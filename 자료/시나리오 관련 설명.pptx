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57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25" autoAdjust="0"/>
    <p:restoredTop sz="94660"/>
  </p:normalViewPr>
  <p:slideViewPr>
    <p:cSldViewPr snapToGrid="0">
      <p:cViewPr varScale="1">
        <p:scale>
          <a:sx n="93" d="100"/>
          <a:sy n="93" d="100"/>
        </p:scale>
        <p:origin x="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72641-D690-6635-EB5F-B38E5CFE4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6447BF-3C94-95B0-B681-3F2FA5409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AF53D-8C9C-0FFA-E792-CF7D6D0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411FD7-1BB4-2ED8-F7C0-88D21E443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F26DEB-DA42-60ED-E9BD-F25EC1F9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9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902C8-CDC1-FAA0-ABDE-55D7C2AE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04393-69B7-505D-5E7D-9FB37B9C9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5F1FF7-DDB5-93C3-A354-064FFC996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11495D-4BBC-8CCC-11D7-A0393613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51BAE-8B5A-1E65-D770-AC75934D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29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DD013-537D-4BE2-A3E8-5D9AD68A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732C5D-3EAD-B5AF-EB22-2F729877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E6898-CEAC-F1CA-F5C7-CE182C54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5B837-FA73-43D6-69E2-D524284D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7AC8A9-0AF6-00D1-0A23-602994C5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038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6EC22-3F1B-AEA6-D70D-A4A258CC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901B29-EB79-7D54-337E-85030AA72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D0BA5B-4E30-84DB-74E4-6CA6FF8B9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B1ECCB-74EE-5EC4-95A2-A35BD619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0C9C18-3E04-1C81-9684-8F2BC1851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69A28-4D98-031F-2717-F01618674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307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5EFE2-3C0C-9031-F172-89BC7B4BC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FDFE76-55C4-20E8-4814-370AEC758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B3CA66-F6F3-0EBA-4497-492D92EB6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B62A53-8AEF-B40F-0E5E-F2E6E0DECA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238179-2ABB-231E-B21D-D5D3C6611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A0D4E4-03AF-5D99-F653-0DFE392AF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826A59-82E9-7E37-97C7-E4721F3B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61183B-7867-3350-0F73-E72039B1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816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BFE18-165D-919E-D000-0CE169D10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A4E1FE-8A42-42CE-5822-7A159673B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AAB6A6-6C50-43B1-E85B-F5634E28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515EA0-B9E7-20F8-CF11-F21A40E2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4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389929-84A6-66D1-7DD0-F818D276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312EA4-00BE-EC88-1277-90D437AC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1D8849-F282-03D9-506A-A9F78043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3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47274-1394-DD16-B50A-23DE2CB4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668C55-34C3-478F-FED8-F0BB7AD93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D7F62D-A59C-D51A-29C5-6575C6BFF3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5C7762-F544-E7C3-44BD-35EA7CC70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4EBEF6-ACFD-7237-C1F9-BB958C659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D95A26-A326-1D62-4574-8C51348C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21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0D9887-2F53-BC03-CACC-9FDA8E98D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A19C9D-0390-F174-63AD-30409D216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4B7C16-2111-337F-B03B-9A48DE7FD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7837FC-3F0F-05E4-EAEA-4B8EF60A4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35D43-9031-6A20-B913-8C147966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900C50-9EB8-C0B5-CE97-10B88734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928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7E90D-DFD4-55CA-BB42-B7B60F27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8A89DC-B28B-DB80-7EB1-2BE7D5C28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6FCBBA-8873-48FE-6BC1-3BE74DA40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33FDD0-FEA4-78DA-CC03-E1EFFD49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5DE7A4-BBDA-DAE8-D55C-6415335C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34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2D49088-FEC2-4E62-FC98-EA3BD055C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9DAA3C-0DFC-0E73-DE91-A4283A81A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DDAFD2-A462-7FFA-2E4A-0CFB534F9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5686CC-AFE0-D68A-6CEE-AC16EA791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84A297-7181-1E24-99BB-9EC5DB06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89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C994AB-7CD0-6203-9939-98B06F7E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66C6A3-AE5F-AA18-1089-66AD79B5B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4995C-1D0A-B3EB-4626-1F2C8F8C7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5574B-E967-4694-9642-D830B56A4D9A}" type="datetimeFigureOut">
              <a:rPr lang="ko-KR" altLang="en-US" smtClean="0"/>
              <a:t>2026-01-28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CDFFCA-A205-9E1B-5C86-7FAD9280D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A3D9EF-A2B9-E0B7-19A4-D4DF0D303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BE2CA-6E84-4A42-95C2-DCF452468E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584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EC550-4C37-9142-9195-35AE0EC299F0}"/>
              </a:ext>
            </a:extLst>
          </p:cNvPr>
          <p:cNvSpPr txBox="1"/>
          <p:nvPr/>
        </p:nvSpPr>
        <p:spPr>
          <a:xfrm>
            <a:off x="1898073" y="2767280"/>
            <a:ext cx="81372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b="1">
                <a:solidFill>
                  <a:schemeClr val="bg1">
                    <a:lumMod val="85000"/>
                  </a:schemeClr>
                </a:solidFill>
              </a:rPr>
              <a:t>시나리오 설명</a:t>
            </a:r>
          </a:p>
        </p:txBody>
      </p:sp>
    </p:spTree>
    <p:extLst>
      <p:ext uri="{BB962C8B-B14F-4D97-AF65-F5344CB8AC3E}">
        <p14:creationId xmlns:p14="http://schemas.microsoft.com/office/powerpoint/2010/main" val="3524318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EEFC5E-9A63-F4D9-6658-2F1197B50398}"/>
              </a:ext>
            </a:extLst>
          </p:cNvPr>
          <p:cNvSpPr/>
          <p:nvPr/>
        </p:nvSpPr>
        <p:spPr>
          <a:xfrm>
            <a:off x="532824" y="1757506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줄거리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D520FD-13D3-16C9-8F86-3CFE01C14C25}"/>
              </a:ext>
            </a:extLst>
          </p:cNvPr>
          <p:cNvSpPr/>
          <p:nvPr/>
        </p:nvSpPr>
        <p:spPr>
          <a:xfrm>
            <a:off x="3433042" y="1757506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반전 요소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및 진실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B945FC-55CE-B68B-4A36-B5F752FB6D67}"/>
              </a:ext>
            </a:extLst>
          </p:cNvPr>
          <p:cNvSpPr/>
          <p:nvPr/>
        </p:nvSpPr>
        <p:spPr>
          <a:xfrm>
            <a:off x="6333260" y="1757506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세력관계도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245C85-9B45-FBF0-09A7-1A38AF8FFD2E}"/>
              </a:ext>
            </a:extLst>
          </p:cNvPr>
          <p:cNvSpPr/>
          <p:nvPr/>
        </p:nvSpPr>
        <p:spPr>
          <a:xfrm>
            <a:off x="9307369" y="1757506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설정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9890AD-2914-6A38-336F-C4954CC96C57}"/>
              </a:ext>
            </a:extLst>
          </p:cNvPr>
          <p:cNvSpPr/>
          <p:nvPr/>
        </p:nvSpPr>
        <p:spPr>
          <a:xfrm>
            <a:off x="1955223" y="4085069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작품 핵심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메시지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A7228EF-89AD-F880-F348-F1B58CD94AA1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2366241" y="2465243"/>
            <a:ext cx="1066801" cy="0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7F2FB76-6D6C-E94F-17D6-72CD3CE03EEF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5266459" y="2465243"/>
            <a:ext cx="1066801" cy="0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E8D809-3E35-0F50-287B-53C817095BF1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8166677" y="2465243"/>
            <a:ext cx="1140692" cy="0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02FC72D-CC87-81B8-EFFA-682BC4FE07FA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955387" y="4792806"/>
            <a:ext cx="999836" cy="0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09E91DE-5FC0-7D33-9E6F-75A4D4318F0E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10224078" y="3172979"/>
            <a:ext cx="0" cy="760846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23F14F4-B97F-CB9E-B65D-33346CD67B0C}"/>
              </a:ext>
            </a:extLst>
          </p:cNvPr>
          <p:cNvCxnSpPr>
            <a:cxnSpLocks/>
          </p:cNvCxnSpPr>
          <p:nvPr/>
        </p:nvCxnSpPr>
        <p:spPr>
          <a:xfrm flipH="1">
            <a:off x="916131" y="3898032"/>
            <a:ext cx="9317182" cy="0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C6072BD-42CA-DA32-1B95-BFCBB4389340}"/>
              </a:ext>
            </a:extLst>
          </p:cNvPr>
          <p:cNvCxnSpPr>
            <a:cxnSpLocks/>
          </p:cNvCxnSpPr>
          <p:nvPr/>
        </p:nvCxnSpPr>
        <p:spPr>
          <a:xfrm flipV="1">
            <a:off x="955387" y="3894566"/>
            <a:ext cx="0" cy="898239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C3E4E6B-D802-D217-39E0-34F5721C759E}"/>
              </a:ext>
            </a:extLst>
          </p:cNvPr>
          <p:cNvSpPr/>
          <p:nvPr/>
        </p:nvSpPr>
        <p:spPr>
          <a:xfrm>
            <a:off x="4931641" y="4085069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예정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등장인물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0AE427-165F-6E30-185F-6A729409E99D}"/>
              </a:ext>
            </a:extLst>
          </p:cNvPr>
          <p:cNvSpPr/>
          <p:nvPr/>
        </p:nvSpPr>
        <p:spPr>
          <a:xfrm>
            <a:off x="7820314" y="4085069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인물 관계도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7AE6EB77-8139-CF4C-9597-D6DB2122AE52}"/>
              </a:ext>
            </a:extLst>
          </p:cNvPr>
          <p:cNvCxnSpPr>
            <a:cxnSpLocks/>
            <a:stCxn id="6" idx="3"/>
            <a:endCxn id="27" idx="1"/>
          </p:cNvCxnSpPr>
          <p:nvPr/>
        </p:nvCxnSpPr>
        <p:spPr>
          <a:xfrm>
            <a:off x="3788640" y="4792806"/>
            <a:ext cx="1143001" cy="0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A383A45-5611-576D-27D4-A9936F2EBC8C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6765058" y="4792806"/>
            <a:ext cx="1055256" cy="0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30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EC550-4C37-9142-9195-35AE0EC299F0}"/>
              </a:ext>
            </a:extLst>
          </p:cNvPr>
          <p:cNvSpPr txBox="1"/>
          <p:nvPr/>
        </p:nvSpPr>
        <p:spPr>
          <a:xfrm>
            <a:off x="1898073" y="2767280"/>
            <a:ext cx="81372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b="1">
                <a:solidFill>
                  <a:schemeClr val="bg1">
                    <a:lumMod val="85000"/>
                  </a:schemeClr>
                </a:solidFill>
              </a:rPr>
              <a:t>줄거리</a:t>
            </a:r>
          </a:p>
        </p:txBody>
      </p:sp>
    </p:spTree>
    <p:extLst>
      <p:ext uri="{BB962C8B-B14F-4D97-AF65-F5344CB8AC3E}">
        <p14:creationId xmlns:p14="http://schemas.microsoft.com/office/powerpoint/2010/main" val="313823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EEFC5E-9A63-F4D9-6658-2F1197B50398}"/>
              </a:ext>
            </a:extLst>
          </p:cNvPr>
          <p:cNvSpPr/>
          <p:nvPr/>
        </p:nvSpPr>
        <p:spPr>
          <a:xfrm>
            <a:off x="780474" y="1252681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D520FD-13D3-16C9-8F86-3CFE01C14C25}"/>
              </a:ext>
            </a:extLst>
          </p:cNvPr>
          <p:cNvSpPr/>
          <p:nvPr/>
        </p:nvSpPr>
        <p:spPr>
          <a:xfrm>
            <a:off x="3680692" y="1252681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승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B945FC-55CE-B68B-4A36-B5F752FB6D67}"/>
              </a:ext>
            </a:extLst>
          </p:cNvPr>
          <p:cNvSpPr/>
          <p:nvPr/>
        </p:nvSpPr>
        <p:spPr>
          <a:xfrm>
            <a:off x="6580910" y="1252681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245C85-9B45-FBF0-09A7-1A38AF8FFD2E}"/>
              </a:ext>
            </a:extLst>
          </p:cNvPr>
          <p:cNvSpPr/>
          <p:nvPr/>
        </p:nvSpPr>
        <p:spPr>
          <a:xfrm>
            <a:off x="9555019" y="1252681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결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A7228EF-89AD-F880-F348-F1B58CD94AA1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2613891" y="1960418"/>
            <a:ext cx="1066801" cy="0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7F2FB76-6D6C-E94F-17D6-72CD3CE03EEF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5514109" y="1960418"/>
            <a:ext cx="1066801" cy="0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E8D809-3E35-0F50-287B-53C817095BF1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8414327" y="1960418"/>
            <a:ext cx="1140692" cy="0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B6DC972-2063-2248-041B-E99701D3DE49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1697183" y="2668154"/>
            <a:ext cx="0" cy="630381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E0E756-2F9B-B5E8-853D-E6BB90D59445}"/>
              </a:ext>
            </a:extLst>
          </p:cNvPr>
          <p:cNvSpPr/>
          <p:nvPr/>
        </p:nvSpPr>
        <p:spPr>
          <a:xfrm>
            <a:off x="780474" y="3298535"/>
            <a:ext cx="1833417" cy="27697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영변도호부 인근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구영과의 조우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스산한 기운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산적 및 도깨비 귀쇄 처치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마을의 이변 파악</a:t>
            </a:r>
            <a:endParaRPr lang="en-US" altLang="ko-KR" sz="110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2AFD53-4D76-A09E-C88B-D76EBEA60371}"/>
              </a:ext>
            </a:extLst>
          </p:cNvPr>
          <p:cNvSpPr/>
          <p:nvPr/>
        </p:nvSpPr>
        <p:spPr>
          <a:xfrm>
            <a:off x="3680692" y="3298535"/>
            <a:ext cx="1833417" cy="27697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인근 고을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구영과 재조우</a:t>
            </a:r>
            <a:br>
              <a:rPr lang="en-US" altLang="ko-KR" sz="1100">
                <a:solidFill>
                  <a:schemeClr val="tx1"/>
                </a:solidFill>
              </a:rPr>
            </a:br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마을의 사정 파악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마을 재건 도움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산적 소탕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착호군과 조우</a:t>
            </a:r>
            <a:endParaRPr lang="en-US" altLang="ko-KR" sz="110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E92C7FF-7598-D993-4549-73D7014B32B9}"/>
              </a:ext>
            </a:extLst>
          </p:cNvPr>
          <p:cNvCxnSpPr>
            <a:cxnSpLocks/>
            <a:stCxn id="2" idx="2"/>
            <a:endCxn id="19" idx="0"/>
          </p:cNvCxnSpPr>
          <p:nvPr/>
        </p:nvCxnSpPr>
        <p:spPr>
          <a:xfrm>
            <a:off x="4597401" y="2668154"/>
            <a:ext cx="0" cy="630381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5B9A5F0-4291-E245-795C-AE80562EA097}"/>
              </a:ext>
            </a:extLst>
          </p:cNvPr>
          <p:cNvSpPr/>
          <p:nvPr/>
        </p:nvSpPr>
        <p:spPr>
          <a:xfrm>
            <a:off x="6580909" y="3298535"/>
            <a:ext cx="1833417" cy="27697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인근 고을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착호군과 마을의 유착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의심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마을의 상태 악화</a:t>
            </a:r>
            <a:r>
              <a:rPr lang="en-US" altLang="ko-KR" sz="1100">
                <a:solidFill>
                  <a:schemeClr val="tx1"/>
                </a:solidFill>
              </a:rPr>
              <a:t>(</a:t>
            </a:r>
            <a:r>
              <a:rPr lang="ko-KR" altLang="en-US" sz="1100">
                <a:solidFill>
                  <a:schemeClr val="tx1"/>
                </a:solidFill>
              </a:rPr>
              <a:t>요기</a:t>
            </a:r>
            <a:r>
              <a:rPr lang="en-US" altLang="ko-KR" sz="110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요괴 소탕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착호군의 고을 습격</a:t>
            </a:r>
            <a:endParaRPr lang="en-US" altLang="ko-KR" sz="110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CFDF0D7-73A6-C7B1-5AE0-C9DD8674541A}"/>
              </a:ext>
            </a:extLst>
          </p:cNvPr>
          <p:cNvCxnSpPr>
            <a:cxnSpLocks/>
            <a:stCxn id="3" idx="2"/>
            <a:endCxn id="24" idx="0"/>
          </p:cNvCxnSpPr>
          <p:nvPr/>
        </p:nvCxnSpPr>
        <p:spPr>
          <a:xfrm flipH="1">
            <a:off x="7497618" y="2668154"/>
            <a:ext cx="1" cy="630381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9F28EB6-FDDA-6297-F8CB-AB6DE8BC6632}"/>
              </a:ext>
            </a:extLst>
          </p:cNvPr>
          <p:cNvSpPr/>
          <p:nvPr/>
        </p:nvSpPr>
        <p:spPr>
          <a:xfrm>
            <a:off x="9555018" y="3298535"/>
            <a:ext cx="1833417" cy="27697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호식터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고을 초토화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필환의 단독 탈출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구영과 마주침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진실을 마주함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최종 보스전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→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엔딩</a:t>
            </a:r>
            <a:endParaRPr lang="en-US" altLang="ko-KR" sz="110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E09FE5B-5A30-DFCB-03C2-40427DCC6035}"/>
              </a:ext>
            </a:extLst>
          </p:cNvPr>
          <p:cNvCxnSpPr>
            <a:cxnSpLocks/>
            <a:stCxn id="5" idx="2"/>
            <a:endCxn id="31" idx="0"/>
          </p:cNvCxnSpPr>
          <p:nvPr/>
        </p:nvCxnSpPr>
        <p:spPr>
          <a:xfrm flipH="1">
            <a:off x="10471727" y="2668154"/>
            <a:ext cx="1" cy="630381"/>
          </a:xfrm>
          <a:prstGeom prst="straightConnector1">
            <a:avLst/>
          </a:prstGeom>
          <a:ln w="603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F829B78-C13C-156F-78A7-F00310BB6D5A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줄거리</a:t>
            </a:r>
          </a:p>
        </p:txBody>
      </p:sp>
    </p:spTree>
    <p:extLst>
      <p:ext uri="{BB962C8B-B14F-4D97-AF65-F5344CB8AC3E}">
        <p14:creationId xmlns:p14="http://schemas.microsoft.com/office/powerpoint/2010/main" val="178154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EC550-4C37-9142-9195-35AE0EC299F0}"/>
              </a:ext>
            </a:extLst>
          </p:cNvPr>
          <p:cNvSpPr txBox="1"/>
          <p:nvPr/>
        </p:nvSpPr>
        <p:spPr>
          <a:xfrm>
            <a:off x="1898073" y="2767280"/>
            <a:ext cx="81372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200" b="1">
                <a:solidFill>
                  <a:schemeClr val="bg1">
                    <a:lumMod val="85000"/>
                  </a:schemeClr>
                </a:solidFill>
              </a:rPr>
              <a:t>반전 요소 및 진실</a:t>
            </a:r>
          </a:p>
        </p:txBody>
      </p:sp>
    </p:spTree>
    <p:extLst>
      <p:ext uri="{BB962C8B-B14F-4D97-AF65-F5344CB8AC3E}">
        <p14:creationId xmlns:p14="http://schemas.microsoft.com/office/powerpoint/2010/main" val="2136563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8F476A-FA83-64E3-98F3-32FC2321BF9A}"/>
              </a:ext>
            </a:extLst>
          </p:cNvPr>
          <p:cNvSpPr txBox="1"/>
          <p:nvPr/>
        </p:nvSpPr>
        <p:spPr>
          <a:xfrm>
            <a:off x="5521966" y="2936962"/>
            <a:ext cx="6516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b="1">
                <a:solidFill>
                  <a:schemeClr val="bg1">
                    <a:lumMod val="85000"/>
                  </a:schemeClr>
                </a:solidFill>
              </a:rPr>
              <a:t>=       </a:t>
            </a:r>
            <a:r>
              <a:rPr lang="ko-KR" altLang="en-US" sz="8000" b="1">
                <a:solidFill>
                  <a:schemeClr val="bg1">
                    <a:lumMod val="85000"/>
                  </a:schemeClr>
                </a:solidFill>
              </a:rPr>
              <a:t>창귀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1091B-D4EE-8457-4A28-0BF2E89C6EC8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반전 요소 및 진실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A697CC-8F74-F022-3B19-FF6FCE980D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9" t="36299" r="31274" b="11259"/>
          <a:stretch/>
        </p:blipFill>
        <p:spPr bwMode="auto">
          <a:xfrm>
            <a:off x="1405870" y="1290138"/>
            <a:ext cx="2800350" cy="46170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80237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8F476A-FA83-64E3-98F3-32FC2321BF9A}"/>
              </a:ext>
            </a:extLst>
          </p:cNvPr>
          <p:cNvSpPr txBox="1"/>
          <p:nvPr/>
        </p:nvSpPr>
        <p:spPr>
          <a:xfrm>
            <a:off x="2032685" y="1632144"/>
            <a:ext cx="802964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>
                <a:solidFill>
                  <a:schemeClr val="bg1">
                    <a:lumMod val="85000"/>
                  </a:schemeClr>
                </a:solidFill>
              </a:rPr>
              <a:t>유사 루프물</a:t>
            </a:r>
            <a:endParaRPr lang="en-US" altLang="ko-KR" sz="5400" b="1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endParaRPr lang="en-US" altLang="ko-KR" sz="2400" b="1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endParaRPr lang="en-US" altLang="ko-KR" sz="2400" b="1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시간이 실제로 뒤로 감</a:t>
            </a:r>
            <a:r>
              <a:rPr lang="en-US" altLang="ko-KR" sz="2400" b="1">
                <a:solidFill>
                  <a:schemeClr val="bg1">
                    <a:lumMod val="85000"/>
                  </a:schemeClr>
                </a:solidFill>
              </a:rPr>
              <a:t>(X)</a:t>
            </a:r>
          </a:p>
          <a:p>
            <a:pPr algn="ctr"/>
            <a:endParaRPr lang="en-US" altLang="ko-KR" sz="2400" b="1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억지로 모든 환경이 초기화되고 처음부터 다시 시작함</a:t>
            </a:r>
            <a:r>
              <a:rPr lang="en-US" altLang="ko-KR" sz="2400" b="1">
                <a:solidFill>
                  <a:schemeClr val="bg1">
                    <a:lumMod val="85000"/>
                  </a:schemeClr>
                </a:solidFill>
              </a:rPr>
              <a:t>(O)</a:t>
            </a:r>
            <a:endParaRPr lang="ko-KR" altLang="en-US" sz="54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1091B-D4EE-8457-4A28-0BF2E89C6EC8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반전 요소 및 진실</a:t>
            </a:r>
          </a:p>
        </p:txBody>
      </p:sp>
    </p:spTree>
    <p:extLst>
      <p:ext uri="{BB962C8B-B14F-4D97-AF65-F5344CB8AC3E}">
        <p14:creationId xmlns:p14="http://schemas.microsoft.com/office/powerpoint/2010/main" val="1528155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8F476A-FA83-64E3-98F3-32FC2321BF9A}"/>
              </a:ext>
            </a:extLst>
          </p:cNvPr>
          <p:cNvSpPr txBox="1"/>
          <p:nvPr/>
        </p:nvSpPr>
        <p:spPr>
          <a:xfrm>
            <a:off x="5064767" y="2762488"/>
            <a:ext cx="12589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b="1">
                <a:solidFill>
                  <a:schemeClr val="bg1">
                    <a:lumMod val="85000"/>
                  </a:schemeClr>
                </a:solidFill>
              </a:rPr>
              <a:t>=</a:t>
            </a:r>
            <a:endParaRPr lang="ko-KR" altLang="en-US" sz="24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1091B-D4EE-8457-4A28-0BF2E89C6EC8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반전 요소 및 진실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783096-61CD-FFD2-D7E5-0384629BA4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81" b="98296" l="9881" r="89949">
                        <a14:foregroundMark x1="37308" y1="64566" x2="29131" y2="90119"/>
                        <a14:foregroundMark x1="29131" y1="90119" x2="61499" y2="93015"/>
                        <a14:foregroundMark x1="61499" y1="93015" x2="70358" y2="70187"/>
                        <a14:foregroundMark x1="70358" y1="70187" x2="53152" y2="43441"/>
                        <a14:foregroundMark x1="53152" y1="43441" x2="48722" y2="10051"/>
                        <a14:foregroundMark x1="73765" y1="97445" x2="38160" y2="67291"/>
                        <a14:foregroundMark x1="60818" y1="63714" x2="36968" y2="96252"/>
                        <a14:foregroundMark x1="41397" y1="69336" x2="32368" y2="90801"/>
                        <a14:foregroundMark x1="30664" y1="72913" x2="25724" y2="89267"/>
                        <a14:foregroundMark x1="68825" y1="72913" x2="73935" y2="98296"/>
                        <a14:foregroundMark x1="32198" y1="69336" x2="37308" y2="60307"/>
                        <a14:foregroundMark x1="59455" y1="22147" x2="56729" y2="223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44" y="1841130"/>
            <a:ext cx="2930326" cy="293032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C9EBE7-675C-0B1C-AF51-9BAB48B79C91}"/>
              </a:ext>
            </a:extLst>
          </p:cNvPr>
          <p:cNvSpPr txBox="1"/>
          <p:nvPr/>
        </p:nvSpPr>
        <p:spPr>
          <a:xfrm>
            <a:off x="6357494" y="3201518"/>
            <a:ext cx="5159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주인공을 막기 위한 장치들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595A1F4-4AE8-01A3-BFE9-3D61AB48E9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32" b="97052" l="9716" r="89738">
                        <a14:foregroundMark x1="45852" y1="10371" x2="53275" y2="10153"/>
                        <a14:foregroundMark x1="50764" y1="7533" x2="48362" y2="6332"/>
                        <a14:foregroundMark x1="43777" y1="12991" x2="43777" y2="12991"/>
                        <a14:foregroundMark x1="55786" y1="12664" x2="55786" y2="12664"/>
                        <a14:foregroundMark x1="42140" y1="83624" x2="37664" y2="95633"/>
                        <a14:foregroundMark x1="37664" y1="95633" x2="37445" y2="95742"/>
                        <a14:foregroundMark x1="64410" y1="97052" x2="58624" y2="91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717" y="2157760"/>
            <a:ext cx="3112905" cy="31129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1724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EC550-4C37-9142-9195-35AE0EC299F0}"/>
              </a:ext>
            </a:extLst>
          </p:cNvPr>
          <p:cNvSpPr txBox="1"/>
          <p:nvPr/>
        </p:nvSpPr>
        <p:spPr>
          <a:xfrm>
            <a:off x="1898073" y="2767280"/>
            <a:ext cx="81372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b="1">
                <a:solidFill>
                  <a:schemeClr val="bg1">
                    <a:lumMod val="85000"/>
                  </a:schemeClr>
                </a:solidFill>
              </a:rPr>
              <a:t>세력관계도</a:t>
            </a:r>
          </a:p>
        </p:txBody>
      </p:sp>
    </p:spTree>
    <p:extLst>
      <p:ext uri="{BB962C8B-B14F-4D97-AF65-F5344CB8AC3E}">
        <p14:creationId xmlns:p14="http://schemas.microsoft.com/office/powerpoint/2010/main" val="3836343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EEFC5E-9A63-F4D9-6658-2F1197B50398}"/>
              </a:ext>
            </a:extLst>
          </p:cNvPr>
          <p:cNvSpPr/>
          <p:nvPr/>
        </p:nvSpPr>
        <p:spPr>
          <a:xfrm>
            <a:off x="3549936" y="4714010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고을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D520FD-13D3-16C9-8F86-3CFE01C14C25}"/>
              </a:ext>
            </a:extLst>
          </p:cNvPr>
          <p:cNvSpPr/>
          <p:nvPr/>
        </p:nvSpPr>
        <p:spPr>
          <a:xfrm>
            <a:off x="2633228" y="2507094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산군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B945FC-55CE-B68B-4A36-B5F752FB6D67}"/>
              </a:ext>
            </a:extLst>
          </p:cNvPr>
          <p:cNvSpPr/>
          <p:nvPr/>
        </p:nvSpPr>
        <p:spPr>
          <a:xfrm>
            <a:off x="5179291" y="1091621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요괴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0245C85-9B45-FBF0-09A7-1A38AF8FFD2E}"/>
              </a:ext>
            </a:extLst>
          </p:cNvPr>
          <p:cNvSpPr/>
          <p:nvPr/>
        </p:nvSpPr>
        <p:spPr>
          <a:xfrm>
            <a:off x="7725354" y="2507094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산적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829B78-C13C-156F-78A7-F00310BB6D5A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세력관계도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7B92F1-5321-1421-38AF-ADD9ACFA75B6}"/>
              </a:ext>
            </a:extLst>
          </p:cNvPr>
          <p:cNvSpPr/>
          <p:nvPr/>
        </p:nvSpPr>
        <p:spPr>
          <a:xfrm>
            <a:off x="6808649" y="4714010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착호군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958E0F-DA7A-F724-972F-69211F609C4C}"/>
              </a:ext>
            </a:extLst>
          </p:cNvPr>
          <p:cNvSpPr/>
          <p:nvPr/>
        </p:nvSpPr>
        <p:spPr>
          <a:xfrm>
            <a:off x="5179291" y="2902815"/>
            <a:ext cx="1833417" cy="14154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주인공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창귀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333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EC550-4C37-9142-9195-35AE0EC299F0}"/>
              </a:ext>
            </a:extLst>
          </p:cNvPr>
          <p:cNvSpPr txBox="1"/>
          <p:nvPr/>
        </p:nvSpPr>
        <p:spPr>
          <a:xfrm>
            <a:off x="1898073" y="2767280"/>
            <a:ext cx="81372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b="1">
                <a:solidFill>
                  <a:schemeClr val="bg1">
                    <a:lumMod val="85000"/>
                  </a:schemeClr>
                </a:solidFill>
              </a:rPr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2723262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0F829B78-C13C-156F-78A7-F00310BB6D5A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설정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E385C-B290-250A-8383-9558301E25DD}"/>
              </a:ext>
            </a:extLst>
          </p:cNvPr>
          <p:cNvSpPr txBox="1"/>
          <p:nvPr/>
        </p:nvSpPr>
        <p:spPr>
          <a:xfrm>
            <a:off x="557955" y="1085042"/>
            <a:ext cx="4869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창귀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CB0F3C-E037-57B0-1FFF-6FFD5919405F}"/>
              </a:ext>
            </a:extLst>
          </p:cNvPr>
          <p:cNvSpPr txBox="1"/>
          <p:nvPr/>
        </p:nvSpPr>
        <p:spPr>
          <a:xfrm>
            <a:off x="643301" y="1546707"/>
            <a:ext cx="46992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자신 대신 다른 사람을 창귀로 바치고 해방되려는 성질을 지님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→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pPr latinLnBrk="0"/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자신을 대신할 사람을 구하기 위해 고을의 결계를 형성함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매실을 좋아함</a:t>
            </a:r>
            <a:endParaRPr lang="en-US" altLang="ko-KR" sz="2400" b="1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→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물약이 매실청임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D0270-AE3B-35EE-537A-196793F5B87E}"/>
              </a:ext>
            </a:extLst>
          </p:cNvPr>
          <p:cNvSpPr txBox="1"/>
          <p:nvPr/>
        </p:nvSpPr>
        <p:spPr>
          <a:xfrm>
            <a:off x="6678747" y="1085042"/>
            <a:ext cx="4869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민속신앙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0290B5-C11A-588C-DB54-5015B9106839}"/>
              </a:ext>
            </a:extLst>
          </p:cNvPr>
          <p:cNvSpPr txBox="1"/>
          <p:nvPr/>
        </p:nvSpPr>
        <p:spPr>
          <a:xfrm>
            <a:off x="6764093" y="1546707"/>
            <a:ext cx="469926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/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불교</a:t>
            </a:r>
            <a:r>
              <a:rPr lang="en-US" altLang="ko-KR" sz="1600" b="1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도교</a:t>
            </a:r>
            <a:r>
              <a:rPr lang="en-US" altLang="ko-KR" sz="1600" b="1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민속신앙 등 많은 불가사의한 힘이 실존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pPr latinLnBrk="0"/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→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pPr latinLnBrk="0"/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불교</a:t>
            </a:r>
            <a:r>
              <a:rPr lang="en-US" altLang="ko-KR" sz="1600" b="1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도교 민속 신앙 소재 몬스터</a:t>
            </a:r>
            <a:r>
              <a:rPr lang="en-US" altLang="ko-KR" sz="1600" b="1">
                <a:solidFill>
                  <a:schemeClr val="bg1">
                    <a:lumMod val="85000"/>
                  </a:schemeClr>
                </a:solidFill>
              </a:rPr>
              <a:t>, NPC, </a:t>
            </a:r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아이템 등으로 구현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pPr latinLnBrk="0"/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pPr latinLnBrk="0"/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조선은 세속주의 국가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pPr latinLnBrk="0"/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→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pPr latinLnBrk="0"/>
            <a:r>
              <a:rPr lang="ko-KR" altLang="en-US" sz="1600" b="1">
                <a:solidFill>
                  <a:schemeClr val="bg1">
                    <a:lumMod val="85000"/>
                  </a:schemeClr>
                </a:solidFill>
              </a:rPr>
              <a:t>초반부 주인공이 괴력난신에 대한 지식을 멀리하고 무지한 것에 대한 보충</a:t>
            </a:r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  <a:p>
            <a:pPr latinLnBrk="0"/>
            <a:endParaRPr lang="en-US" altLang="ko-KR" sz="1600" b="1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904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EC550-4C37-9142-9195-35AE0EC299F0}"/>
              </a:ext>
            </a:extLst>
          </p:cNvPr>
          <p:cNvSpPr txBox="1"/>
          <p:nvPr/>
        </p:nvSpPr>
        <p:spPr>
          <a:xfrm>
            <a:off x="1898073" y="2767280"/>
            <a:ext cx="81372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b="1">
                <a:solidFill>
                  <a:schemeClr val="bg1">
                    <a:lumMod val="85000"/>
                  </a:schemeClr>
                </a:solidFill>
              </a:rPr>
              <a:t>작품 핵심 메시지</a:t>
            </a:r>
          </a:p>
        </p:txBody>
      </p:sp>
    </p:spTree>
    <p:extLst>
      <p:ext uri="{BB962C8B-B14F-4D97-AF65-F5344CB8AC3E}">
        <p14:creationId xmlns:p14="http://schemas.microsoft.com/office/powerpoint/2010/main" val="855682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0F829B78-C13C-156F-78A7-F00310BB6D5A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작품 핵심 메시지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E385C-B290-250A-8383-9558301E25DD}"/>
              </a:ext>
            </a:extLst>
          </p:cNvPr>
          <p:cNvSpPr txBox="1"/>
          <p:nvPr/>
        </p:nvSpPr>
        <p:spPr>
          <a:xfrm>
            <a:off x="1578796" y="3047406"/>
            <a:ext cx="90344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400" b="1">
                <a:solidFill>
                  <a:schemeClr val="bg1">
                    <a:lumMod val="85000"/>
                  </a:schemeClr>
                </a:solidFill>
              </a:rPr>
              <a:t>놓아 줘야만 하는 순간이 오면</a:t>
            </a:r>
            <a:r>
              <a:rPr lang="en-US" altLang="ko-KR" sz="4400" b="1">
                <a:solidFill>
                  <a:schemeClr val="bg1">
                    <a:lumMod val="85000"/>
                  </a:schemeClr>
                </a:solidFill>
              </a:rPr>
              <a:t>,</a:t>
            </a:r>
          </a:p>
          <a:p>
            <a:pPr algn="ctr"/>
            <a:r>
              <a:rPr lang="ko-KR" altLang="en-US" sz="4400" b="1">
                <a:solidFill>
                  <a:schemeClr val="bg1">
                    <a:lumMod val="85000"/>
                  </a:schemeClr>
                </a:solidFill>
              </a:rPr>
              <a:t>놓아 줘야 한다</a:t>
            </a:r>
            <a:r>
              <a:rPr lang="en-US" altLang="ko-KR" sz="4400" b="1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ko-KR" altLang="en-US" sz="4400" b="1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046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EC550-4C37-9142-9195-35AE0EC299F0}"/>
              </a:ext>
            </a:extLst>
          </p:cNvPr>
          <p:cNvSpPr txBox="1"/>
          <p:nvPr/>
        </p:nvSpPr>
        <p:spPr>
          <a:xfrm>
            <a:off x="1898073" y="2767280"/>
            <a:ext cx="81372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b="1">
                <a:solidFill>
                  <a:schemeClr val="bg1">
                    <a:lumMod val="85000"/>
                  </a:schemeClr>
                </a:solidFill>
              </a:rPr>
              <a:t>예정 등장인물</a:t>
            </a:r>
          </a:p>
        </p:txBody>
      </p:sp>
    </p:spTree>
    <p:extLst>
      <p:ext uri="{BB962C8B-B14F-4D97-AF65-F5344CB8AC3E}">
        <p14:creationId xmlns:p14="http://schemas.microsoft.com/office/powerpoint/2010/main" val="2106209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0F829B78-C13C-156F-78A7-F00310BB6D5A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예정 등장인물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C72AC1-6407-A074-19E2-B8AE76D5A0EE}"/>
              </a:ext>
            </a:extLst>
          </p:cNvPr>
          <p:cNvSpPr txBox="1"/>
          <p:nvPr/>
        </p:nvSpPr>
        <p:spPr>
          <a:xfrm>
            <a:off x="1174404" y="1331621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필환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853B2F-9617-30CE-C1F1-5458675956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9" t="36299" r="31274" b="11259"/>
          <a:stretch/>
        </p:blipFill>
        <p:spPr bwMode="auto">
          <a:xfrm>
            <a:off x="913085" y="1865491"/>
            <a:ext cx="2800350" cy="46170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1F92A3-D25C-114C-85AA-47385C9D15AC}"/>
              </a:ext>
            </a:extLst>
          </p:cNvPr>
          <p:cNvSpPr txBox="1"/>
          <p:nvPr/>
        </p:nvSpPr>
        <p:spPr>
          <a:xfrm>
            <a:off x="4957144" y="1403826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길수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D777AA-58E0-9CAA-86D7-DAC4904AA5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332" b="97052" l="9716" r="89738">
                        <a14:foregroundMark x1="45852" y1="10371" x2="53275" y2="10153"/>
                        <a14:foregroundMark x1="50764" y1="7533" x2="48362" y2="6332"/>
                        <a14:foregroundMark x1="43777" y1="12991" x2="43777" y2="12991"/>
                        <a14:foregroundMark x1="55786" y1="12664" x2="55786" y2="12664"/>
                        <a14:foregroundMark x1="42140" y1="83624" x2="37664" y2="95633"/>
                        <a14:foregroundMark x1="37664" y1="95633" x2="37445" y2="95742"/>
                        <a14:foregroundMark x1="64410" y1="97052" x2="58624" y2="915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337" y="1865491"/>
            <a:ext cx="4151325" cy="4151325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907338-A155-24CD-A76A-DAC3AA04DA5B}"/>
              </a:ext>
            </a:extLst>
          </p:cNvPr>
          <p:cNvSpPr txBox="1"/>
          <p:nvPr/>
        </p:nvSpPr>
        <p:spPr>
          <a:xfrm>
            <a:off x="8739884" y="1403825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구영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45B35B-41C7-FEC9-428D-3457B92FA1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81" b="98296" l="9881" r="89949">
                        <a14:foregroundMark x1="37308" y1="64566" x2="29131" y2="90119"/>
                        <a14:foregroundMark x1="29131" y1="90119" x2="61499" y2="93015"/>
                        <a14:foregroundMark x1="61499" y1="93015" x2="70358" y2="70187"/>
                        <a14:foregroundMark x1="70358" y1="70187" x2="53152" y2="43441"/>
                        <a14:foregroundMark x1="53152" y1="43441" x2="48722" y2="10051"/>
                        <a14:foregroundMark x1="73765" y1="97445" x2="38160" y2="67291"/>
                        <a14:foregroundMark x1="60818" y1="63714" x2="36968" y2="96252"/>
                        <a14:foregroundMark x1="41397" y1="69336" x2="32368" y2="90801"/>
                        <a14:foregroundMark x1="30664" y1="72913" x2="25724" y2="89267"/>
                        <a14:foregroundMark x1="68825" y1="72913" x2="73935" y2="98296"/>
                        <a14:foregroundMark x1="32198" y1="69336" x2="37308" y2="60307"/>
                        <a14:foregroundMark x1="59455" y1="22147" x2="56729" y2="223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397" y="1793286"/>
            <a:ext cx="3588685" cy="35886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1357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0F829B78-C13C-156F-78A7-F00310BB6D5A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예정 등장인물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C72AC1-6407-A074-19E2-B8AE76D5A0EE}"/>
              </a:ext>
            </a:extLst>
          </p:cNvPr>
          <p:cNvSpPr txBox="1"/>
          <p:nvPr/>
        </p:nvSpPr>
        <p:spPr>
          <a:xfrm>
            <a:off x="876453" y="1331621"/>
            <a:ext cx="2873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산군</a:t>
            </a:r>
            <a:r>
              <a:rPr lang="en-US" altLang="ko-KR" sz="2400" b="1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대군</a:t>
            </a:r>
            <a:r>
              <a:rPr lang="en-US" altLang="ko-KR" sz="2400" b="1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altLang="en-US" sz="24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F92A3-D25C-114C-85AA-47385C9D15AC}"/>
              </a:ext>
            </a:extLst>
          </p:cNvPr>
          <p:cNvSpPr txBox="1"/>
          <p:nvPr/>
        </p:nvSpPr>
        <p:spPr>
          <a:xfrm>
            <a:off x="4957144" y="1331621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군수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07338-A155-24CD-A76A-DAC3AA04DA5B}"/>
              </a:ext>
            </a:extLst>
          </p:cNvPr>
          <p:cNvSpPr txBox="1"/>
          <p:nvPr/>
        </p:nvSpPr>
        <p:spPr>
          <a:xfrm>
            <a:off x="8729610" y="1331620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활인活人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801569A-B740-E837-4B3C-B546E4E83E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95" r="17695"/>
          <a:stretch/>
        </p:blipFill>
        <p:spPr>
          <a:xfrm>
            <a:off x="537543" y="2843373"/>
            <a:ext cx="3551434" cy="295316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B8DF006-A0B9-DB44-1B0B-A0C6C392C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592" y="2324858"/>
            <a:ext cx="2348816" cy="3758106"/>
          </a:xfrm>
          <a:prstGeom prst="rect">
            <a:avLst/>
          </a:prstGeom>
        </p:spPr>
      </p:pic>
      <p:pic>
        <p:nvPicPr>
          <p:cNvPr id="1028" name="Picture 4" descr="불교인문학살롱] 20. 허균과 불교 &lt; 불교인문학살롱 &lt; 지난연재보기 &lt; 기사본문 - 현대불교">
            <a:extLst>
              <a:ext uri="{FF2B5EF4-FFF2-40B4-BE49-F238E27FC236}">
                <a16:creationId xmlns:a16="http://schemas.microsoft.com/office/drawing/2014/main" id="{3174A6B3-FACF-F61A-BC1E-B71685B582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7" t="4247" r="7567" b="4247"/>
          <a:stretch/>
        </p:blipFill>
        <p:spPr bwMode="auto">
          <a:xfrm>
            <a:off x="8770755" y="1880171"/>
            <a:ext cx="2236567" cy="453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192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0F829B78-C13C-156F-78A7-F00310BB6D5A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예정 등장인물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C72AC1-6407-A074-19E2-B8AE76D5A0EE}"/>
              </a:ext>
            </a:extLst>
          </p:cNvPr>
          <p:cNvSpPr txBox="1"/>
          <p:nvPr/>
        </p:nvSpPr>
        <p:spPr>
          <a:xfrm>
            <a:off x="2313260" y="1321347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세자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F92A3-D25C-114C-85AA-47385C9D15AC}"/>
              </a:ext>
            </a:extLst>
          </p:cNvPr>
          <p:cNvSpPr txBox="1"/>
          <p:nvPr/>
        </p:nvSpPr>
        <p:spPr>
          <a:xfrm>
            <a:off x="8296246" y="1403826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주상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03CFC54-EC0C-58EC-BA2B-C7F250E0A4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091" y="2444715"/>
            <a:ext cx="3448050" cy="3448050"/>
          </a:xfrm>
          <a:prstGeom prst="rect">
            <a:avLst/>
          </a:prstGeom>
          <a:noFill/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5EB4CB5-C8EF-30BF-C172-0BD36261B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225" y="2185372"/>
            <a:ext cx="3816153" cy="370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823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EC550-4C37-9142-9195-35AE0EC299F0}"/>
              </a:ext>
            </a:extLst>
          </p:cNvPr>
          <p:cNvSpPr txBox="1"/>
          <p:nvPr/>
        </p:nvSpPr>
        <p:spPr>
          <a:xfrm>
            <a:off x="1898073" y="2767280"/>
            <a:ext cx="81372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0" b="1">
                <a:solidFill>
                  <a:schemeClr val="bg1">
                    <a:lumMod val="85000"/>
                  </a:schemeClr>
                </a:solidFill>
              </a:rPr>
              <a:t>인물 관계도</a:t>
            </a:r>
          </a:p>
        </p:txBody>
      </p:sp>
    </p:spTree>
    <p:extLst>
      <p:ext uri="{BB962C8B-B14F-4D97-AF65-F5344CB8AC3E}">
        <p14:creationId xmlns:p14="http://schemas.microsoft.com/office/powerpoint/2010/main" val="3724716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0F829B78-C13C-156F-78A7-F00310BB6D5A}"/>
              </a:ext>
            </a:extLst>
          </p:cNvPr>
          <p:cNvSpPr txBox="1"/>
          <p:nvPr/>
        </p:nvSpPr>
        <p:spPr>
          <a:xfrm>
            <a:off x="1978891" y="291236"/>
            <a:ext cx="8137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>
                    <a:lumMod val="85000"/>
                  </a:schemeClr>
                </a:solidFill>
              </a:rPr>
              <a:t>인물　관계도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C72AC1-6407-A074-19E2-B8AE76D5A0EE}"/>
              </a:ext>
            </a:extLst>
          </p:cNvPr>
          <p:cNvSpPr txBox="1"/>
          <p:nvPr/>
        </p:nvSpPr>
        <p:spPr>
          <a:xfrm>
            <a:off x="4957144" y="3444857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필환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F92A3-D25C-114C-85AA-47385C9D15AC}"/>
              </a:ext>
            </a:extLst>
          </p:cNvPr>
          <p:cNvSpPr txBox="1"/>
          <p:nvPr/>
        </p:nvSpPr>
        <p:spPr>
          <a:xfrm>
            <a:off x="4957144" y="5421022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길수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07338-A155-24CD-A76A-DAC3AA04DA5B}"/>
              </a:ext>
            </a:extLst>
          </p:cNvPr>
          <p:cNvSpPr txBox="1"/>
          <p:nvPr/>
        </p:nvSpPr>
        <p:spPr>
          <a:xfrm>
            <a:off x="2181271" y="3766881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구영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94623-F4DC-909D-892E-5EBC2C254AFE}"/>
              </a:ext>
            </a:extLst>
          </p:cNvPr>
          <p:cNvSpPr txBox="1"/>
          <p:nvPr/>
        </p:nvSpPr>
        <p:spPr>
          <a:xfrm>
            <a:off x="1585369" y="2983192"/>
            <a:ext cx="2873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산군</a:t>
            </a:r>
            <a:r>
              <a:rPr lang="en-US" altLang="ko-KR" sz="2400" b="1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대군</a:t>
            </a:r>
            <a:r>
              <a:rPr lang="en-US" altLang="ko-KR" sz="2400" b="1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altLang="en-US" sz="2400" b="1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DECFC-E914-F7A0-5312-8851CC65B075}"/>
              </a:ext>
            </a:extLst>
          </p:cNvPr>
          <p:cNvSpPr txBox="1"/>
          <p:nvPr/>
        </p:nvSpPr>
        <p:spPr>
          <a:xfrm>
            <a:off x="6538062" y="1584972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군수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9F6423-89C3-F7D2-773A-AE7A2B51AC8F}"/>
              </a:ext>
            </a:extLst>
          </p:cNvPr>
          <p:cNvSpPr txBox="1"/>
          <p:nvPr/>
        </p:nvSpPr>
        <p:spPr>
          <a:xfrm>
            <a:off x="8871873" y="3536048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활인活人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E5784A-7870-CAA2-1372-15204C03D82A}"/>
              </a:ext>
            </a:extLst>
          </p:cNvPr>
          <p:cNvSpPr txBox="1"/>
          <p:nvPr/>
        </p:nvSpPr>
        <p:spPr>
          <a:xfrm>
            <a:off x="4458983" y="1468692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세자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D95B17-FC73-7AFE-00F9-12522D56D023}"/>
              </a:ext>
            </a:extLst>
          </p:cNvPr>
          <p:cNvSpPr txBox="1"/>
          <p:nvPr/>
        </p:nvSpPr>
        <p:spPr>
          <a:xfrm>
            <a:off x="3099096" y="1437799"/>
            <a:ext cx="227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1">
                <a:solidFill>
                  <a:schemeClr val="bg1">
                    <a:lumMod val="85000"/>
                  </a:schemeClr>
                </a:solidFill>
              </a:rPr>
              <a:t>주상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C6B5E1C-1762-1F49-328B-444338CC092D}"/>
              </a:ext>
            </a:extLst>
          </p:cNvPr>
          <p:cNvSpPr/>
          <p:nvPr/>
        </p:nvSpPr>
        <p:spPr>
          <a:xfrm>
            <a:off x="1469204" y="2373330"/>
            <a:ext cx="3390471" cy="2547991"/>
          </a:xfrm>
          <a:prstGeom prst="ellipse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427E1F0-B9D4-A0BE-0AD8-7043503756F9}"/>
              </a:ext>
            </a:extLst>
          </p:cNvPr>
          <p:cNvSpPr/>
          <p:nvPr/>
        </p:nvSpPr>
        <p:spPr>
          <a:xfrm>
            <a:off x="5112831" y="3101288"/>
            <a:ext cx="1966338" cy="3217319"/>
          </a:xfrm>
          <a:prstGeom prst="ellipse">
            <a:avLst/>
          </a:prstGeom>
          <a:solidFill>
            <a:srgbClr val="00B0F0">
              <a:alpha val="46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2F22382-599C-13C1-E28E-34F0BAFA79B9}"/>
              </a:ext>
            </a:extLst>
          </p:cNvPr>
          <p:cNvSpPr/>
          <p:nvPr/>
        </p:nvSpPr>
        <p:spPr>
          <a:xfrm>
            <a:off x="9116877" y="3025399"/>
            <a:ext cx="1787703" cy="1592936"/>
          </a:xfrm>
          <a:prstGeom prst="ellipse">
            <a:avLst/>
          </a:prstGeom>
          <a:solidFill>
            <a:srgbClr val="FF0000">
              <a:alpha val="46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F622338-869D-01F6-D11D-F6AD3FC1882A}"/>
              </a:ext>
            </a:extLst>
          </p:cNvPr>
          <p:cNvSpPr/>
          <p:nvPr/>
        </p:nvSpPr>
        <p:spPr>
          <a:xfrm>
            <a:off x="3022176" y="931303"/>
            <a:ext cx="5707434" cy="1545132"/>
          </a:xfrm>
          <a:prstGeom prst="ellipse">
            <a:avLst/>
          </a:prstGeom>
          <a:solidFill>
            <a:srgbClr val="FFC000">
              <a:alpha val="46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183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264</Words>
  <Application>Microsoft Office PowerPoint</Application>
  <PresentationFormat>와이드스크린</PresentationFormat>
  <Paragraphs>132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14</cp:revision>
  <dcterms:created xsi:type="dcterms:W3CDTF">2026-01-28T08:18:00Z</dcterms:created>
  <dcterms:modified xsi:type="dcterms:W3CDTF">2026-01-28T10:26:16Z</dcterms:modified>
</cp:coreProperties>
</file>