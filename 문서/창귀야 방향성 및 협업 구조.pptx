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65" r:id="rId4"/>
    <p:sldId id="266" r:id="rId5"/>
    <p:sldId id="267" r:id="rId6"/>
    <p:sldId id="268" r:id="rId7"/>
    <p:sldId id="259" r:id="rId8"/>
    <p:sldId id="258" r:id="rId9"/>
    <p:sldId id="262" r:id="rId10"/>
    <p:sldId id="260" r:id="rId11"/>
    <p:sldId id="261" r:id="rId12"/>
    <p:sldId id="263" r:id="rId13"/>
    <p:sldId id="264" r:id="rId14"/>
    <p:sldId id="269" r:id="rId15"/>
    <p:sldId id="272" r:id="rId16"/>
    <p:sldId id="270" r:id="rId17"/>
    <p:sldId id="271" r:id="rId18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A92D4FD-279A-4337-9D36-A19F8B227F24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8A7BC9-DA85-4DFC-9C02-93469E4CF12C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2133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A7BC9-DA85-4DFC-9C02-93469E4CF12C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261579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A7BC9-DA85-4DFC-9C02-93469E4CF12C}" type="slidenum">
              <a:rPr lang="ko-KR" altLang="en-US" smtClean="0"/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687313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A7BC9-DA85-4DFC-9C02-93469E4CF12C}" type="slidenum">
              <a:rPr lang="ko-KR" altLang="en-US" smtClean="0"/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459226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A7BC9-DA85-4DFC-9C02-93469E4CF12C}" type="slidenum">
              <a:rPr lang="ko-KR" altLang="en-US" smtClean="0"/>
              <a:t>14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887680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68A7BC9-DA85-4DFC-9C02-93469E4CF12C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3411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DDB363C-700D-BF0E-782D-3988120599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11327C19-2647-BD95-EB8B-19D79A5B03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F26898B-4E24-3AC2-EC0F-370EDA283E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07806-7499-4086-941E-A6D6BC235354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1D7DBC4-399D-A4E0-12B3-D97D43AC05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88AAC75-8DF3-098C-A896-7D101BC776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B585F-1C5C-412E-B54E-18E4CC3675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9132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AC4A5B3-A8AD-0EFE-BD5E-C957166AA0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5EA74FE-BD2B-FD89-19A8-F55CD551880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9FC083D-DD73-9AB6-5D85-ED3F70E1C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07806-7499-4086-941E-A6D6BC235354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7A19018-A4F9-1C0A-DEDC-5790F64DF4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8FDEF38-7720-1AE5-FB25-5EB6463B9D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B585F-1C5C-412E-B54E-18E4CC3675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57580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75771AC-6CD6-DA8C-9C94-382F1781D7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96ECB63-F716-B68F-87F6-F79AA87DB6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E87CB47-9DD5-059D-990D-5B707D98C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07806-7499-4086-941E-A6D6BC235354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5E28800-80F7-5EBF-F23B-88BC72A78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1BD0E2A-8456-9C91-A8C3-A7C626C407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B585F-1C5C-412E-B54E-18E4CC3675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49172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328CD75-310D-7306-874C-9FFAADFB97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E17FDDE0-6D06-00D1-6755-1B057542F5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1F164DD-C0E5-BA5F-B1B7-1A95BF882F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105E827-BEDC-7694-9311-4E813E2FBC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07806-7499-4086-941E-A6D6BC235354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FA890EE-FA09-5D30-5F29-146D1EAFC3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5BA9563-E403-4665-2E89-CB654C172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B585F-1C5C-412E-B54E-18E4CC3675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1083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12FFCEE-11AE-7B12-ABB4-05D3916239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8E45ECA-AD0F-284E-B3B6-5FF276ABA90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EF47AFF-59BC-2067-E137-D904ACDC76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4BC3D5F-81A7-71C8-1A2B-962474DA1B6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32B653C-9D0B-B0DB-A7A7-B6F40E3E80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BFF68E89-5BCA-959D-4304-543B5AAF25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07806-7499-4086-941E-A6D6BC235354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4BFC69DD-A553-C1EC-DC55-4BE1218C69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6596FD02-0C4C-C6AE-CDD7-67EE902F2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B585F-1C5C-412E-B54E-18E4CC3675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998472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9811010-960E-29A5-24F4-05F2C2F83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A6543D4-F404-CE8B-9C8E-A16E0B65C7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07806-7499-4086-941E-A6D6BC235354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317E2F8-0D4F-3F3B-1B9C-5D2551A4F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BAE65905-79CE-835A-202D-A9D3DECC5E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B585F-1C5C-412E-B54E-18E4CC3675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413036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094E106-1956-6D35-9942-108F09335B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07806-7499-4086-941E-A6D6BC235354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C364A4B-F76B-7617-5ECA-84556AFC35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480328-4D67-66BD-CF80-118BB3C598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B585F-1C5C-412E-B54E-18E4CC3675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7861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0271EA5-82DE-DCF5-8977-B906731583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7EBF0EA-DA67-7A7E-814C-67AFB85A01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DA56DD1-836E-1F31-FAA8-42900BFDE7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E7C45665-1544-A1F2-0FB1-A668D0C88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07806-7499-4086-941E-A6D6BC235354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2516BEA-8F60-321D-8F5B-A48526EFA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EEEDB45-B869-9734-0D5D-7517ECBFB2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B585F-1C5C-412E-B54E-18E4CC3675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55585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BCF3ADA-3E5B-3698-1254-F9472B112D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B3A6FF44-BDD5-E901-30AC-2F330F4DE3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2241D68-301C-5DA0-1DB4-907FB97845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3116B35-60DA-3497-BADF-53BE42A12C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07806-7499-4086-941E-A6D6BC235354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5F1F4E3-7A50-441F-CD16-EFC68133B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709568-8CF0-DB8F-61BA-B969A524B4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B585F-1C5C-412E-B54E-18E4CC3675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7824051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FD27995-288B-3184-0511-CC023BC06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6118C4B-9DB8-DF5A-50D7-BD9A27B894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18087F8E-7C46-3E6D-FEBC-CEC047C0B1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07806-7499-4086-941E-A6D6BC235354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E62D4FD-811F-C8D7-6FAF-7C1392B0D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4CB81B3-8E50-A0F1-8B48-622D06571A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B585F-1C5C-412E-B54E-18E4CC3675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5988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A0545CC8-0BB4-DFE4-D287-FAEBC418E21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2AAFD6C-C8C7-35A2-EDD1-2B42C55E32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622E165-B0E1-E4F7-EB4D-641BC7613C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E07806-7499-4086-941E-A6D6BC235354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EB47CED-A56F-C8AA-AFB6-6FA824BE23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E2CC5EF-16A1-4A68-A14B-AF8AF9A34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CB585F-1C5C-412E-B54E-18E4CC3675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266086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>
            <a:lumMod val="60000"/>
            <a:lumOff val="4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7850FAF2-6D90-48E4-9A92-082568036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FC9BE31-4860-5F40-6506-AD8761D30F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6D4A76EF-B110-24AC-6544-58019729FC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E07806-7499-4086-941E-A6D6BC235354}" type="datetimeFigureOut">
              <a:rPr lang="ko-KR" altLang="en-US" smtClean="0"/>
              <a:t>2025-11-13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20E2451-CB9A-CC02-BC10-DFC5F657819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7D6113E-2EEA-983B-C4F8-E46449BD91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CB585F-1C5C-412E-B54E-18E4CC3675DF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032695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98DE38-530B-3DDC-7716-498E40B40138}"/>
              </a:ext>
            </a:extLst>
          </p:cNvPr>
          <p:cNvSpPr txBox="1"/>
          <p:nvPr/>
        </p:nvSpPr>
        <p:spPr>
          <a:xfrm>
            <a:off x="1745672" y="2583876"/>
            <a:ext cx="87006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b="1"/>
              <a:t>프로젝트 방향성</a:t>
            </a:r>
          </a:p>
        </p:txBody>
      </p:sp>
    </p:spTree>
    <p:extLst>
      <p:ext uri="{BB962C8B-B14F-4D97-AF65-F5344CB8AC3E}">
        <p14:creationId xmlns:p14="http://schemas.microsoft.com/office/powerpoint/2010/main" val="40953769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98DE38-530B-3DDC-7716-498E40B40138}"/>
              </a:ext>
            </a:extLst>
          </p:cNvPr>
          <p:cNvSpPr txBox="1"/>
          <p:nvPr/>
        </p:nvSpPr>
        <p:spPr>
          <a:xfrm>
            <a:off x="1745672" y="136236"/>
            <a:ext cx="87006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b="1"/>
              <a:t>프로젝트 방향성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E8A75E9-BFA6-425E-7553-1C8AA74929EB}"/>
              </a:ext>
            </a:extLst>
          </p:cNvPr>
          <p:cNvSpPr/>
          <p:nvPr/>
        </p:nvSpPr>
        <p:spPr>
          <a:xfrm>
            <a:off x="1973983" y="2250377"/>
            <a:ext cx="1588655" cy="10156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로비</a:t>
            </a: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46DEF8AD-C07A-D3B2-7443-5241FB040D84}"/>
              </a:ext>
            </a:extLst>
          </p:cNvPr>
          <p:cNvCxnSpPr>
            <a:cxnSpLocks/>
            <a:stCxn id="3" idx="3"/>
            <a:endCxn id="7" idx="1"/>
          </p:cNvCxnSpPr>
          <p:nvPr/>
        </p:nvCxnSpPr>
        <p:spPr>
          <a:xfrm>
            <a:off x="3562638" y="2758209"/>
            <a:ext cx="3902364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직사각형 6">
            <a:extLst>
              <a:ext uri="{FF2B5EF4-FFF2-40B4-BE49-F238E27FC236}">
                <a16:creationId xmlns:a16="http://schemas.microsoft.com/office/drawing/2014/main" id="{316BFC8C-610B-DB50-679D-530BE78C5262}"/>
              </a:ext>
            </a:extLst>
          </p:cNvPr>
          <p:cNvSpPr/>
          <p:nvPr/>
        </p:nvSpPr>
        <p:spPr>
          <a:xfrm>
            <a:off x="7465002" y="2250377"/>
            <a:ext cx="1588655" cy="10156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인게임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22AD7F88-5986-2310-EF5F-0C24F1BD00BF}"/>
              </a:ext>
            </a:extLst>
          </p:cNvPr>
          <p:cNvSpPr/>
          <p:nvPr/>
        </p:nvSpPr>
        <p:spPr>
          <a:xfrm>
            <a:off x="5557693" y="3848099"/>
            <a:ext cx="1260765" cy="70692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</a:rPr>
              <a:t>메인 퀘스트</a:t>
            </a: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D657A110-4E9E-F150-2829-3DFE93289923}"/>
              </a:ext>
            </a:extLst>
          </p:cNvPr>
          <p:cNvSpPr/>
          <p:nvPr/>
        </p:nvSpPr>
        <p:spPr>
          <a:xfrm>
            <a:off x="7072456" y="3848099"/>
            <a:ext cx="1260765" cy="70692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>
                <a:solidFill>
                  <a:schemeClr val="tx1"/>
                </a:solidFill>
              </a:rPr>
              <a:t>노드 그래프 형 월드</a:t>
            </a:r>
            <a:endParaRPr lang="en-US" altLang="ko-KR" sz="900">
              <a:solidFill>
                <a:schemeClr val="tx1"/>
              </a:solidFill>
            </a:endParaRPr>
          </a:p>
          <a:p>
            <a:pPr algn="ctr"/>
            <a:r>
              <a:rPr lang="ko-KR" altLang="en-US" sz="900">
                <a:solidFill>
                  <a:schemeClr val="tx1"/>
                </a:solidFill>
              </a:rPr>
              <a:t>탐색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3DC17BAE-8BC3-DD5C-27DD-877797B12892}"/>
              </a:ext>
            </a:extLst>
          </p:cNvPr>
          <p:cNvSpPr/>
          <p:nvPr/>
        </p:nvSpPr>
        <p:spPr>
          <a:xfrm>
            <a:off x="9921876" y="3848099"/>
            <a:ext cx="1260765" cy="70692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마을 안전지대</a:t>
            </a: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5E824AA4-B8C9-183D-B944-4393591D3CE8}"/>
              </a:ext>
            </a:extLst>
          </p:cNvPr>
          <p:cNvCxnSpPr>
            <a:cxnSpLocks/>
            <a:stCxn id="9" idx="3"/>
            <a:endCxn id="10" idx="1"/>
          </p:cNvCxnSpPr>
          <p:nvPr/>
        </p:nvCxnSpPr>
        <p:spPr>
          <a:xfrm>
            <a:off x="6818458" y="4201560"/>
            <a:ext cx="253998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BD2F2BB3-E724-9267-2C75-38B8C07EEF07}"/>
              </a:ext>
            </a:extLst>
          </p:cNvPr>
          <p:cNvCxnSpPr>
            <a:cxnSpLocks/>
            <a:stCxn id="10" idx="3"/>
            <a:endCxn id="49" idx="1"/>
          </p:cNvCxnSpPr>
          <p:nvPr/>
        </p:nvCxnSpPr>
        <p:spPr>
          <a:xfrm>
            <a:off x="8333221" y="4201560"/>
            <a:ext cx="1639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1A307D30-8870-3D56-4D0D-7DACF98A58CA}"/>
              </a:ext>
            </a:extLst>
          </p:cNvPr>
          <p:cNvCxnSpPr>
            <a:cxnSpLocks/>
          </p:cNvCxnSpPr>
          <p:nvPr/>
        </p:nvCxnSpPr>
        <p:spPr>
          <a:xfrm flipH="1">
            <a:off x="5557693" y="3266040"/>
            <a:ext cx="1907309" cy="582059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연결선 22">
            <a:extLst>
              <a:ext uri="{FF2B5EF4-FFF2-40B4-BE49-F238E27FC236}">
                <a16:creationId xmlns:a16="http://schemas.microsoft.com/office/drawing/2014/main" id="{8F47BEF4-071E-55A7-7F9E-DA849317AA84}"/>
              </a:ext>
            </a:extLst>
          </p:cNvPr>
          <p:cNvCxnSpPr>
            <a:cxnSpLocks/>
          </p:cNvCxnSpPr>
          <p:nvPr/>
        </p:nvCxnSpPr>
        <p:spPr>
          <a:xfrm>
            <a:off x="9053657" y="3266040"/>
            <a:ext cx="2128984" cy="588409"/>
          </a:xfrm>
          <a:prstGeom prst="line">
            <a:avLst/>
          </a:prstGeom>
          <a:ln w="222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4502324-2C90-553F-0918-BFA94CB8A595}"/>
              </a:ext>
            </a:extLst>
          </p:cNvPr>
          <p:cNvSpPr/>
          <p:nvPr/>
        </p:nvSpPr>
        <p:spPr>
          <a:xfrm>
            <a:off x="526182" y="3848099"/>
            <a:ext cx="1260765" cy="70692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</a:rPr>
              <a:t>게임 설정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3B14D8B-04DB-FB96-39B0-1D586C550893}"/>
              </a:ext>
            </a:extLst>
          </p:cNvPr>
          <p:cNvSpPr/>
          <p:nvPr/>
        </p:nvSpPr>
        <p:spPr>
          <a:xfrm>
            <a:off x="2137927" y="3848099"/>
            <a:ext cx="1260765" cy="70692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</a:rPr>
              <a:t>세이브 파일 관리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73279E6-4A46-6C66-421B-B050806B738C}"/>
              </a:ext>
            </a:extLst>
          </p:cNvPr>
          <p:cNvSpPr/>
          <p:nvPr/>
        </p:nvSpPr>
        <p:spPr>
          <a:xfrm>
            <a:off x="3724273" y="3848099"/>
            <a:ext cx="1260765" cy="70692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</a:rPr>
              <a:t>도감</a:t>
            </a: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C81F8BEF-8AB6-8C91-F8EC-31C52985FBBE}"/>
              </a:ext>
            </a:extLst>
          </p:cNvPr>
          <p:cNvCxnSpPr>
            <a:cxnSpLocks/>
            <a:stCxn id="3" idx="2"/>
            <a:endCxn id="28" idx="0"/>
          </p:cNvCxnSpPr>
          <p:nvPr/>
        </p:nvCxnSpPr>
        <p:spPr>
          <a:xfrm flipH="1">
            <a:off x="1156565" y="3266040"/>
            <a:ext cx="1611746" cy="58205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9767F4B4-5AA4-EC61-FACE-4FBB4AB177DE}"/>
              </a:ext>
            </a:extLst>
          </p:cNvPr>
          <p:cNvCxnSpPr>
            <a:cxnSpLocks/>
            <a:stCxn id="3" idx="2"/>
            <a:endCxn id="30" idx="0"/>
          </p:cNvCxnSpPr>
          <p:nvPr/>
        </p:nvCxnSpPr>
        <p:spPr>
          <a:xfrm flipH="1">
            <a:off x="2768310" y="3266040"/>
            <a:ext cx="1" cy="58205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1BFFA363-767D-B7E6-8FE1-D01745F57337}"/>
              </a:ext>
            </a:extLst>
          </p:cNvPr>
          <p:cNvCxnSpPr>
            <a:cxnSpLocks/>
            <a:stCxn id="3" idx="2"/>
            <a:endCxn id="31" idx="0"/>
          </p:cNvCxnSpPr>
          <p:nvPr/>
        </p:nvCxnSpPr>
        <p:spPr>
          <a:xfrm>
            <a:off x="2768311" y="3266040"/>
            <a:ext cx="1586345" cy="58205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직사각형 43">
            <a:extLst>
              <a:ext uri="{FF2B5EF4-FFF2-40B4-BE49-F238E27FC236}">
                <a16:creationId xmlns:a16="http://schemas.microsoft.com/office/drawing/2014/main" id="{09E78BA3-3584-D033-86B6-5E54E6A7EDB2}"/>
              </a:ext>
            </a:extLst>
          </p:cNvPr>
          <p:cNvSpPr/>
          <p:nvPr/>
        </p:nvSpPr>
        <p:spPr>
          <a:xfrm>
            <a:off x="9213273" y="4823790"/>
            <a:ext cx="1260765" cy="70692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서브 퀘스트</a:t>
            </a:r>
          </a:p>
        </p:txBody>
      </p: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CAC47152-6C3D-2A22-DCC1-22532C25807C}"/>
              </a:ext>
            </a:extLst>
          </p:cNvPr>
          <p:cNvSpPr/>
          <p:nvPr/>
        </p:nvSpPr>
        <p:spPr>
          <a:xfrm>
            <a:off x="10637983" y="4823790"/>
            <a:ext cx="1260765" cy="70692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200">
                <a:solidFill>
                  <a:schemeClr val="tx1"/>
                </a:solidFill>
              </a:rPr>
              <a:t>수집물 탐색</a:t>
            </a:r>
          </a:p>
        </p:txBody>
      </p: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23F58BB7-B298-C548-C61B-347E1D5D57FD}"/>
              </a:ext>
            </a:extLst>
          </p:cNvPr>
          <p:cNvSpPr/>
          <p:nvPr/>
        </p:nvSpPr>
        <p:spPr>
          <a:xfrm>
            <a:off x="8497166" y="3848099"/>
            <a:ext cx="1260765" cy="70692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보스 및 몬스터 전투</a:t>
            </a:r>
          </a:p>
        </p:txBody>
      </p:sp>
      <p:cxnSp>
        <p:nvCxnSpPr>
          <p:cNvPr id="50" name="직선 화살표 연결선 49">
            <a:extLst>
              <a:ext uri="{FF2B5EF4-FFF2-40B4-BE49-F238E27FC236}">
                <a16:creationId xmlns:a16="http://schemas.microsoft.com/office/drawing/2014/main" id="{84558AD8-DE26-1AE9-44A1-BBB25C4F43A5}"/>
              </a:ext>
            </a:extLst>
          </p:cNvPr>
          <p:cNvCxnSpPr>
            <a:cxnSpLocks/>
            <a:stCxn id="49" idx="3"/>
            <a:endCxn id="11" idx="1"/>
          </p:cNvCxnSpPr>
          <p:nvPr/>
        </p:nvCxnSpPr>
        <p:spPr>
          <a:xfrm>
            <a:off x="9757931" y="4201560"/>
            <a:ext cx="163945" cy="0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직선 화살표 연결선 55">
            <a:extLst>
              <a:ext uri="{FF2B5EF4-FFF2-40B4-BE49-F238E27FC236}">
                <a16:creationId xmlns:a16="http://schemas.microsoft.com/office/drawing/2014/main" id="{B4892B27-A9E2-AB1F-DC1E-39AD99528DBD}"/>
              </a:ext>
            </a:extLst>
          </p:cNvPr>
          <p:cNvCxnSpPr>
            <a:cxnSpLocks/>
            <a:stCxn id="11" idx="2"/>
            <a:endCxn id="44" idx="0"/>
          </p:cNvCxnSpPr>
          <p:nvPr/>
        </p:nvCxnSpPr>
        <p:spPr>
          <a:xfrm flipH="1">
            <a:off x="9843656" y="4555021"/>
            <a:ext cx="708603" cy="26876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직선 화살표 연결선 58">
            <a:extLst>
              <a:ext uri="{FF2B5EF4-FFF2-40B4-BE49-F238E27FC236}">
                <a16:creationId xmlns:a16="http://schemas.microsoft.com/office/drawing/2014/main" id="{587A8EBF-B9E4-6519-23FD-36795F2B11B3}"/>
              </a:ext>
            </a:extLst>
          </p:cNvPr>
          <p:cNvCxnSpPr>
            <a:cxnSpLocks/>
            <a:stCxn id="11" idx="2"/>
            <a:endCxn id="45" idx="0"/>
          </p:cNvCxnSpPr>
          <p:nvPr/>
        </p:nvCxnSpPr>
        <p:spPr>
          <a:xfrm>
            <a:off x="10552259" y="4555021"/>
            <a:ext cx="716107" cy="26876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연결선: 꺾임 64">
            <a:extLst>
              <a:ext uri="{FF2B5EF4-FFF2-40B4-BE49-F238E27FC236}">
                <a16:creationId xmlns:a16="http://schemas.microsoft.com/office/drawing/2014/main" id="{DAA999D6-9652-1404-A041-0D6494DE0B03}"/>
              </a:ext>
            </a:extLst>
          </p:cNvPr>
          <p:cNvCxnSpPr>
            <a:stCxn id="11" idx="0"/>
            <a:endCxn id="9" idx="0"/>
          </p:cNvCxnSpPr>
          <p:nvPr/>
        </p:nvCxnSpPr>
        <p:spPr>
          <a:xfrm rot="16200000" flipV="1">
            <a:off x="8370168" y="1666007"/>
            <a:ext cx="12700" cy="4364183"/>
          </a:xfrm>
          <a:prstGeom prst="bentConnector3">
            <a:avLst>
              <a:gd name="adj1" fmla="val 1199984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608816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98DE38-530B-3DDC-7716-498E40B40138}"/>
              </a:ext>
            </a:extLst>
          </p:cNvPr>
          <p:cNvSpPr txBox="1"/>
          <p:nvPr/>
        </p:nvSpPr>
        <p:spPr>
          <a:xfrm>
            <a:off x="1745672" y="136236"/>
            <a:ext cx="87006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b="1"/>
              <a:t>프로젝트 방향성</a:t>
            </a: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BE8A75E9-BFA6-425E-7553-1C8AA74929EB}"/>
              </a:ext>
            </a:extLst>
          </p:cNvPr>
          <p:cNvSpPr/>
          <p:nvPr/>
        </p:nvSpPr>
        <p:spPr>
          <a:xfrm>
            <a:off x="5301672" y="2204196"/>
            <a:ext cx="1588655" cy="10156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전투</a:t>
            </a: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54502324-2C90-553F-0918-BFA94CB8A595}"/>
              </a:ext>
            </a:extLst>
          </p:cNvPr>
          <p:cNvSpPr/>
          <p:nvPr/>
        </p:nvSpPr>
        <p:spPr>
          <a:xfrm>
            <a:off x="1701798" y="3801918"/>
            <a:ext cx="1260765" cy="70692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</a:rPr>
              <a:t>종족 탐색</a:t>
            </a:r>
          </a:p>
        </p:txBody>
      </p:sp>
      <p:sp>
        <p:nvSpPr>
          <p:cNvPr id="30" name="직사각형 29">
            <a:extLst>
              <a:ext uri="{FF2B5EF4-FFF2-40B4-BE49-F238E27FC236}">
                <a16:creationId xmlns:a16="http://schemas.microsoft.com/office/drawing/2014/main" id="{53B14D8B-04DB-FB96-39B0-1D586C550893}"/>
              </a:ext>
            </a:extLst>
          </p:cNvPr>
          <p:cNvSpPr/>
          <p:nvPr/>
        </p:nvSpPr>
        <p:spPr>
          <a:xfrm>
            <a:off x="5465616" y="3801918"/>
            <a:ext cx="1260765" cy="70692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</a:rPr>
              <a:t>자원 관리</a:t>
            </a:r>
          </a:p>
        </p:txBody>
      </p:sp>
      <p:sp>
        <p:nvSpPr>
          <p:cNvPr id="31" name="직사각형 30">
            <a:extLst>
              <a:ext uri="{FF2B5EF4-FFF2-40B4-BE49-F238E27FC236}">
                <a16:creationId xmlns:a16="http://schemas.microsoft.com/office/drawing/2014/main" id="{273279E6-4A46-6C66-421B-B050806B738C}"/>
              </a:ext>
            </a:extLst>
          </p:cNvPr>
          <p:cNvSpPr/>
          <p:nvPr/>
        </p:nvSpPr>
        <p:spPr>
          <a:xfrm>
            <a:off x="9518071" y="3801918"/>
            <a:ext cx="1260765" cy="70692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>
                <a:solidFill>
                  <a:schemeClr val="tx1"/>
                </a:solidFill>
              </a:rPr>
              <a:t>공수 전환</a:t>
            </a:r>
          </a:p>
        </p:txBody>
      </p:sp>
      <p:cxnSp>
        <p:nvCxnSpPr>
          <p:cNvPr id="32" name="직선 화살표 연결선 31">
            <a:extLst>
              <a:ext uri="{FF2B5EF4-FFF2-40B4-BE49-F238E27FC236}">
                <a16:creationId xmlns:a16="http://schemas.microsoft.com/office/drawing/2014/main" id="{C81F8BEF-8AB6-8C91-F8EC-31C52985FBBE}"/>
              </a:ext>
            </a:extLst>
          </p:cNvPr>
          <p:cNvCxnSpPr>
            <a:cxnSpLocks/>
            <a:stCxn id="3" idx="2"/>
            <a:endCxn id="28" idx="0"/>
          </p:cNvCxnSpPr>
          <p:nvPr/>
        </p:nvCxnSpPr>
        <p:spPr>
          <a:xfrm flipH="1">
            <a:off x="2332181" y="3219859"/>
            <a:ext cx="3763819" cy="58205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직선 화살표 연결선 34">
            <a:extLst>
              <a:ext uri="{FF2B5EF4-FFF2-40B4-BE49-F238E27FC236}">
                <a16:creationId xmlns:a16="http://schemas.microsoft.com/office/drawing/2014/main" id="{9767F4B4-5AA4-EC61-FACE-4FBB4AB177DE}"/>
              </a:ext>
            </a:extLst>
          </p:cNvPr>
          <p:cNvCxnSpPr>
            <a:cxnSpLocks/>
            <a:stCxn id="3" idx="2"/>
            <a:endCxn id="30" idx="0"/>
          </p:cNvCxnSpPr>
          <p:nvPr/>
        </p:nvCxnSpPr>
        <p:spPr>
          <a:xfrm flipH="1">
            <a:off x="6095999" y="3219859"/>
            <a:ext cx="1" cy="58205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화살표 연결선 37">
            <a:extLst>
              <a:ext uri="{FF2B5EF4-FFF2-40B4-BE49-F238E27FC236}">
                <a16:creationId xmlns:a16="http://schemas.microsoft.com/office/drawing/2014/main" id="{1BFFA363-767D-B7E6-8FE1-D01745F57337}"/>
              </a:ext>
            </a:extLst>
          </p:cNvPr>
          <p:cNvCxnSpPr>
            <a:cxnSpLocks/>
            <a:stCxn id="3" idx="2"/>
            <a:endCxn id="31" idx="0"/>
          </p:cNvCxnSpPr>
          <p:nvPr/>
        </p:nvCxnSpPr>
        <p:spPr>
          <a:xfrm>
            <a:off x="6096000" y="3219859"/>
            <a:ext cx="4052454" cy="58205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직선 화살표 연결선 7">
            <a:extLst>
              <a:ext uri="{FF2B5EF4-FFF2-40B4-BE49-F238E27FC236}">
                <a16:creationId xmlns:a16="http://schemas.microsoft.com/office/drawing/2014/main" id="{424CD854-FE0E-1BA5-7EB8-E8914F305642}"/>
              </a:ext>
            </a:extLst>
          </p:cNvPr>
          <p:cNvCxnSpPr>
            <a:cxnSpLocks/>
            <a:stCxn id="28" idx="2"/>
            <a:endCxn id="14" idx="0"/>
          </p:cNvCxnSpPr>
          <p:nvPr/>
        </p:nvCxnSpPr>
        <p:spPr>
          <a:xfrm flipH="1">
            <a:off x="923636" y="4508840"/>
            <a:ext cx="1408545" cy="5261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241AC4C-67FE-2C27-8DA6-8413CA28D091}"/>
              </a:ext>
            </a:extLst>
          </p:cNvPr>
          <p:cNvSpPr/>
          <p:nvPr/>
        </p:nvSpPr>
        <p:spPr>
          <a:xfrm>
            <a:off x="293253" y="5034973"/>
            <a:ext cx="1260765" cy="70692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인간</a:t>
            </a:r>
            <a:r>
              <a:rPr lang="en-US" altLang="ko-KR" sz="1100">
                <a:solidFill>
                  <a:schemeClr val="tx1"/>
                </a:solidFill>
              </a:rPr>
              <a:t>, </a:t>
            </a:r>
            <a:r>
              <a:rPr lang="ko-KR" altLang="en-US" sz="1100">
                <a:solidFill>
                  <a:schemeClr val="tx1"/>
                </a:solidFill>
              </a:rPr>
              <a:t>망령</a:t>
            </a:r>
            <a:r>
              <a:rPr lang="en-US" altLang="ko-KR" sz="1100">
                <a:solidFill>
                  <a:schemeClr val="tx1"/>
                </a:solidFill>
              </a:rPr>
              <a:t>, </a:t>
            </a:r>
            <a:r>
              <a:rPr lang="ko-KR" altLang="en-US" sz="1100">
                <a:solidFill>
                  <a:schemeClr val="tx1"/>
                </a:solidFill>
              </a:rPr>
              <a:t>요괴</a:t>
            </a:r>
          </a:p>
        </p:txBody>
      </p:sp>
      <p:cxnSp>
        <p:nvCxnSpPr>
          <p:cNvPr id="18" name="직선 화살표 연결선 17">
            <a:extLst>
              <a:ext uri="{FF2B5EF4-FFF2-40B4-BE49-F238E27FC236}">
                <a16:creationId xmlns:a16="http://schemas.microsoft.com/office/drawing/2014/main" id="{51E4F2DB-1959-9BCA-F941-331BB90393FC}"/>
              </a:ext>
            </a:extLst>
          </p:cNvPr>
          <p:cNvCxnSpPr>
            <a:cxnSpLocks/>
            <a:stCxn id="28" idx="2"/>
            <a:endCxn id="22" idx="0"/>
          </p:cNvCxnSpPr>
          <p:nvPr/>
        </p:nvCxnSpPr>
        <p:spPr>
          <a:xfrm flipH="1">
            <a:off x="2321790" y="4508840"/>
            <a:ext cx="10391" cy="5261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D4685192-BE99-8D72-84A9-BE0B5DCA9B51}"/>
              </a:ext>
            </a:extLst>
          </p:cNvPr>
          <p:cNvSpPr/>
          <p:nvPr/>
        </p:nvSpPr>
        <p:spPr>
          <a:xfrm>
            <a:off x="1691407" y="5034973"/>
            <a:ext cx="1260765" cy="70692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종족별 특징</a:t>
            </a: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C56E01FF-D907-CEC4-C4CB-74E380BF389D}"/>
              </a:ext>
            </a:extLst>
          </p:cNvPr>
          <p:cNvSpPr/>
          <p:nvPr/>
        </p:nvSpPr>
        <p:spPr>
          <a:xfrm>
            <a:off x="3089561" y="5034973"/>
            <a:ext cx="1260765" cy="70692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종족 바꾸기</a:t>
            </a:r>
          </a:p>
        </p:txBody>
      </p:sp>
      <p:cxnSp>
        <p:nvCxnSpPr>
          <p:cNvPr id="27" name="직선 화살표 연결선 26">
            <a:extLst>
              <a:ext uri="{FF2B5EF4-FFF2-40B4-BE49-F238E27FC236}">
                <a16:creationId xmlns:a16="http://schemas.microsoft.com/office/drawing/2014/main" id="{61F09A03-78AC-451E-E322-55927E10D4C1}"/>
              </a:ext>
            </a:extLst>
          </p:cNvPr>
          <p:cNvCxnSpPr>
            <a:cxnSpLocks/>
            <a:stCxn id="28" idx="2"/>
            <a:endCxn id="26" idx="0"/>
          </p:cNvCxnSpPr>
          <p:nvPr/>
        </p:nvCxnSpPr>
        <p:spPr>
          <a:xfrm>
            <a:off x="2332181" y="4508840"/>
            <a:ext cx="1387763" cy="5261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85ABE736-9E59-C572-9B09-F9714C8173CB}"/>
              </a:ext>
            </a:extLst>
          </p:cNvPr>
          <p:cNvCxnSpPr>
            <a:cxnSpLocks/>
            <a:stCxn id="30" idx="2"/>
            <a:endCxn id="39" idx="0"/>
          </p:cNvCxnSpPr>
          <p:nvPr/>
        </p:nvCxnSpPr>
        <p:spPr>
          <a:xfrm flipH="1">
            <a:off x="5231245" y="4508840"/>
            <a:ext cx="864754" cy="526133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6CBE53A1-CA80-4695-F15D-77E31CC31D88}"/>
              </a:ext>
            </a:extLst>
          </p:cNvPr>
          <p:cNvSpPr/>
          <p:nvPr/>
        </p:nvSpPr>
        <p:spPr>
          <a:xfrm>
            <a:off x="4600862" y="5034973"/>
            <a:ext cx="1260765" cy="70692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캐릭터 능력치</a:t>
            </a:r>
          </a:p>
        </p:txBody>
      </p:sp>
      <p:sp>
        <p:nvSpPr>
          <p:cNvPr id="42" name="직사각형 41">
            <a:extLst>
              <a:ext uri="{FF2B5EF4-FFF2-40B4-BE49-F238E27FC236}">
                <a16:creationId xmlns:a16="http://schemas.microsoft.com/office/drawing/2014/main" id="{AC0FCB39-E762-6E2C-4C48-E973D90641A0}"/>
              </a:ext>
            </a:extLst>
          </p:cNvPr>
          <p:cNvSpPr/>
          <p:nvPr/>
        </p:nvSpPr>
        <p:spPr>
          <a:xfrm>
            <a:off x="6234543" y="5027059"/>
            <a:ext cx="1260765" cy="70692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>
                <a:solidFill>
                  <a:schemeClr val="tx1"/>
                </a:solidFill>
              </a:rPr>
              <a:t>스킬 및 방어 자원</a:t>
            </a: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00C0274C-FCBE-E4AC-458A-7AFD6440351B}"/>
              </a:ext>
            </a:extLst>
          </p:cNvPr>
          <p:cNvCxnSpPr>
            <a:cxnSpLocks/>
            <a:stCxn id="30" idx="2"/>
            <a:endCxn id="42" idx="0"/>
          </p:cNvCxnSpPr>
          <p:nvPr/>
        </p:nvCxnSpPr>
        <p:spPr>
          <a:xfrm>
            <a:off x="6095999" y="4508840"/>
            <a:ext cx="768927" cy="51821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직사각형 47">
            <a:extLst>
              <a:ext uri="{FF2B5EF4-FFF2-40B4-BE49-F238E27FC236}">
                <a16:creationId xmlns:a16="http://schemas.microsoft.com/office/drawing/2014/main" id="{FB0929A5-2972-26DC-C0A9-66F549E93B27}"/>
              </a:ext>
            </a:extLst>
          </p:cNvPr>
          <p:cNvSpPr/>
          <p:nvPr/>
        </p:nvSpPr>
        <p:spPr>
          <a:xfrm>
            <a:off x="10474041" y="5005096"/>
            <a:ext cx="1260765" cy="70692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자동 방어를 통한 공수 전환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A6CAD943-534E-AD00-4DE5-94C5D80148C2}"/>
              </a:ext>
            </a:extLst>
          </p:cNvPr>
          <p:cNvSpPr txBox="1"/>
          <p:nvPr/>
        </p:nvSpPr>
        <p:spPr>
          <a:xfrm>
            <a:off x="4833724" y="1493461"/>
            <a:ext cx="2524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/>
              <a:t>전투</a:t>
            </a:r>
          </a:p>
        </p:txBody>
      </p:sp>
      <p:sp>
        <p:nvSpPr>
          <p:cNvPr id="53" name="직사각형 52">
            <a:extLst>
              <a:ext uri="{FF2B5EF4-FFF2-40B4-BE49-F238E27FC236}">
                <a16:creationId xmlns:a16="http://schemas.microsoft.com/office/drawing/2014/main" id="{2FE6E9A4-AEB7-72EA-8DB4-C2C86656FB09}"/>
              </a:ext>
            </a:extLst>
          </p:cNvPr>
          <p:cNvSpPr/>
          <p:nvPr/>
        </p:nvSpPr>
        <p:spPr>
          <a:xfrm>
            <a:off x="8582893" y="5005096"/>
            <a:ext cx="1260765" cy="70692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공격을 유도하는</a:t>
            </a:r>
            <a:endParaRPr lang="en-US" altLang="ko-KR" sz="1100">
              <a:solidFill>
                <a:schemeClr val="tx1"/>
              </a:solidFill>
            </a:endParaRPr>
          </a:p>
          <a:p>
            <a:pPr algn="ctr"/>
            <a:r>
              <a:rPr lang="ko-KR" altLang="en-US" sz="1100">
                <a:solidFill>
                  <a:schemeClr val="tx1"/>
                </a:solidFill>
              </a:rPr>
              <a:t>스킬</a:t>
            </a:r>
          </a:p>
        </p:txBody>
      </p:sp>
      <p:cxnSp>
        <p:nvCxnSpPr>
          <p:cNvPr id="54" name="직선 화살표 연결선 53">
            <a:extLst>
              <a:ext uri="{FF2B5EF4-FFF2-40B4-BE49-F238E27FC236}">
                <a16:creationId xmlns:a16="http://schemas.microsoft.com/office/drawing/2014/main" id="{CF40BE33-73CB-0B52-CEB4-D46F0CB4765E}"/>
              </a:ext>
            </a:extLst>
          </p:cNvPr>
          <p:cNvCxnSpPr>
            <a:cxnSpLocks/>
            <a:stCxn id="31" idx="2"/>
            <a:endCxn id="53" idx="0"/>
          </p:cNvCxnSpPr>
          <p:nvPr/>
        </p:nvCxnSpPr>
        <p:spPr>
          <a:xfrm flipH="1">
            <a:off x="9213276" y="4508840"/>
            <a:ext cx="935178" cy="49625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직선 화살표 연결선 57">
            <a:extLst>
              <a:ext uri="{FF2B5EF4-FFF2-40B4-BE49-F238E27FC236}">
                <a16:creationId xmlns:a16="http://schemas.microsoft.com/office/drawing/2014/main" id="{3840E8BA-B0C4-4A19-CA27-E45F799B69BC}"/>
              </a:ext>
            </a:extLst>
          </p:cNvPr>
          <p:cNvCxnSpPr>
            <a:cxnSpLocks/>
            <a:stCxn id="31" idx="2"/>
            <a:endCxn id="48" idx="0"/>
          </p:cNvCxnSpPr>
          <p:nvPr/>
        </p:nvCxnSpPr>
        <p:spPr>
          <a:xfrm>
            <a:off x="10148454" y="4508840"/>
            <a:ext cx="955970" cy="49625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38520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98DE38-530B-3DDC-7716-498E40B40138}"/>
              </a:ext>
            </a:extLst>
          </p:cNvPr>
          <p:cNvSpPr txBox="1"/>
          <p:nvPr/>
        </p:nvSpPr>
        <p:spPr>
          <a:xfrm>
            <a:off x="1745672" y="136236"/>
            <a:ext cx="87006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b="1"/>
              <a:t>프로젝트 방향성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27119A6-5072-AA07-F53F-95E38B660362}"/>
              </a:ext>
            </a:extLst>
          </p:cNvPr>
          <p:cNvSpPr txBox="1"/>
          <p:nvPr/>
        </p:nvSpPr>
        <p:spPr>
          <a:xfrm>
            <a:off x="4608943" y="1493461"/>
            <a:ext cx="2974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/>
              <a:t>예상 전투 플로우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A30FF04-C406-A943-9A42-9478B7D00CBF}"/>
              </a:ext>
            </a:extLst>
          </p:cNvPr>
          <p:cNvSpPr/>
          <p:nvPr/>
        </p:nvSpPr>
        <p:spPr>
          <a:xfrm>
            <a:off x="1126834" y="3220195"/>
            <a:ext cx="1588655" cy="10156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조우</a:t>
            </a:r>
          </a:p>
        </p:txBody>
      </p:sp>
      <p:cxnSp>
        <p:nvCxnSpPr>
          <p:cNvPr id="6" name="직선 화살표 연결선 5">
            <a:extLst>
              <a:ext uri="{FF2B5EF4-FFF2-40B4-BE49-F238E27FC236}">
                <a16:creationId xmlns:a16="http://schemas.microsoft.com/office/drawing/2014/main" id="{CA7AE08E-E26C-DB48-4A1A-84022E470924}"/>
              </a:ext>
            </a:extLst>
          </p:cNvPr>
          <p:cNvCxnSpPr>
            <a:cxnSpLocks/>
            <a:stCxn id="5" idx="3"/>
            <a:endCxn id="10" idx="1"/>
          </p:cNvCxnSpPr>
          <p:nvPr/>
        </p:nvCxnSpPr>
        <p:spPr>
          <a:xfrm>
            <a:off x="2715489" y="3728027"/>
            <a:ext cx="507998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직사각형 9">
            <a:extLst>
              <a:ext uri="{FF2B5EF4-FFF2-40B4-BE49-F238E27FC236}">
                <a16:creationId xmlns:a16="http://schemas.microsoft.com/office/drawing/2014/main" id="{7F818947-6FDD-EBFD-4744-15A1BE2A10B5}"/>
              </a:ext>
            </a:extLst>
          </p:cNvPr>
          <p:cNvSpPr/>
          <p:nvPr/>
        </p:nvSpPr>
        <p:spPr>
          <a:xfrm>
            <a:off x="3223487" y="3220195"/>
            <a:ext cx="1588655" cy="10156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전초전</a:t>
            </a: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A750DF3C-6213-5396-DA16-24B41BA6782C}"/>
              </a:ext>
            </a:extLst>
          </p:cNvPr>
          <p:cNvSpPr/>
          <p:nvPr/>
        </p:nvSpPr>
        <p:spPr>
          <a:xfrm>
            <a:off x="5320140" y="3220194"/>
            <a:ext cx="1588655" cy="10156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방어 시스템</a:t>
            </a:r>
            <a:endParaRPr lang="en-US" altLang="ko-KR">
              <a:solidFill>
                <a:schemeClr val="tx1"/>
              </a:solidFill>
            </a:endParaRPr>
          </a:p>
          <a:p>
            <a:pPr algn="ctr"/>
            <a:r>
              <a:rPr lang="ko-KR" altLang="en-US">
                <a:solidFill>
                  <a:schemeClr val="tx1"/>
                </a:solidFill>
              </a:rPr>
              <a:t>소모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2E262DA-8C41-534E-2E51-91CBFD277F25}"/>
              </a:ext>
            </a:extLst>
          </p:cNvPr>
          <p:cNvSpPr/>
          <p:nvPr/>
        </p:nvSpPr>
        <p:spPr>
          <a:xfrm>
            <a:off x="7416799" y="3220194"/>
            <a:ext cx="1588655" cy="10156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개체별 공략 대응</a:t>
            </a:r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4F0ED5B9-C985-2889-6912-93AFC0A600DE}"/>
              </a:ext>
            </a:extLst>
          </p:cNvPr>
          <p:cNvCxnSpPr>
            <a:cxnSpLocks/>
            <a:stCxn id="10" idx="3"/>
            <a:endCxn id="15" idx="1"/>
          </p:cNvCxnSpPr>
          <p:nvPr/>
        </p:nvCxnSpPr>
        <p:spPr>
          <a:xfrm flipV="1">
            <a:off x="4812142" y="3728026"/>
            <a:ext cx="507998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18B996D6-F2F0-461D-045B-E77102CABD8A}"/>
              </a:ext>
            </a:extLst>
          </p:cNvPr>
          <p:cNvCxnSpPr>
            <a:cxnSpLocks/>
            <a:stCxn id="15" idx="3"/>
            <a:endCxn id="16" idx="1"/>
          </p:cNvCxnSpPr>
          <p:nvPr/>
        </p:nvCxnSpPr>
        <p:spPr>
          <a:xfrm>
            <a:off x="6908795" y="3728026"/>
            <a:ext cx="508004" cy="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직선 화살표 연결선 24">
            <a:extLst>
              <a:ext uri="{FF2B5EF4-FFF2-40B4-BE49-F238E27FC236}">
                <a16:creationId xmlns:a16="http://schemas.microsoft.com/office/drawing/2014/main" id="{0C94D751-2927-E7D2-08B6-E1F43578BD72}"/>
              </a:ext>
            </a:extLst>
          </p:cNvPr>
          <p:cNvCxnSpPr>
            <a:cxnSpLocks/>
            <a:stCxn id="16" idx="3"/>
            <a:endCxn id="37" idx="1"/>
          </p:cNvCxnSpPr>
          <p:nvPr/>
        </p:nvCxnSpPr>
        <p:spPr>
          <a:xfrm flipV="1">
            <a:off x="9005454" y="3728025"/>
            <a:ext cx="609600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82EE0B37-8A0E-1E52-E5F4-DDBBDB3A6287}"/>
              </a:ext>
            </a:extLst>
          </p:cNvPr>
          <p:cNvSpPr/>
          <p:nvPr/>
        </p:nvSpPr>
        <p:spPr>
          <a:xfrm>
            <a:off x="9615054" y="3220193"/>
            <a:ext cx="1588655" cy="10156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처치</a:t>
            </a:r>
          </a:p>
        </p:txBody>
      </p:sp>
      <p:cxnSp>
        <p:nvCxnSpPr>
          <p:cNvPr id="45" name="연결선: 꺾임 44">
            <a:extLst>
              <a:ext uri="{FF2B5EF4-FFF2-40B4-BE49-F238E27FC236}">
                <a16:creationId xmlns:a16="http://schemas.microsoft.com/office/drawing/2014/main" id="{72BE963C-6BBF-B4AB-536F-3C81B0EB38EB}"/>
              </a:ext>
            </a:extLst>
          </p:cNvPr>
          <p:cNvCxnSpPr>
            <a:cxnSpLocks/>
            <a:stCxn id="16" idx="0"/>
            <a:endCxn id="15" idx="0"/>
          </p:cNvCxnSpPr>
          <p:nvPr/>
        </p:nvCxnSpPr>
        <p:spPr>
          <a:xfrm rot="16200000" flipV="1">
            <a:off x="7162798" y="2171864"/>
            <a:ext cx="12700" cy="2096659"/>
          </a:xfrm>
          <a:prstGeom prst="bentConnector3">
            <a:avLst>
              <a:gd name="adj1" fmla="val 3181819"/>
            </a:avLst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6633626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98DE38-530B-3DDC-7716-498E40B40138}"/>
              </a:ext>
            </a:extLst>
          </p:cNvPr>
          <p:cNvSpPr txBox="1"/>
          <p:nvPr/>
        </p:nvSpPr>
        <p:spPr>
          <a:xfrm>
            <a:off x="1745672" y="136236"/>
            <a:ext cx="87006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b="1"/>
              <a:t>프로젝트 방향성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C35348-F84E-C9E1-3933-3DFB9B6CD882}"/>
              </a:ext>
            </a:extLst>
          </p:cNvPr>
          <p:cNvSpPr txBox="1"/>
          <p:nvPr/>
        </p:nvSpPr>
        <p:spPr>
          <a:xfrm>
            <a:off x="4608943" y="1493461"/>
            <a:ext cx="2974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/>
              <a:t>콘텐츠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9B22C04C-E035-D532-F2EC-91F2C255697B}"/>
              </a:ext>
            </a:extLst>
          </p:cNvPr>
          <p:cNvSpPr/>
          <p:nvPr/>
        </p:nvSpPr>
        <p:spPr>
          <a:xfrm>
            <a:off x="1422400" y="2536705"/>
            <a:ext cx="1588655" cy="10156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메인 퀘스트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416D596-2AE8-AB1A-7DE5-99EA64FE99C0}"/>
              </a:ext>
            </a:extLst>
          </p:cNvPr>
          <p:cNvSpPr/>
          <p:nvPr/>
        </p:nvSpPr>
        <p:spPr>
          <a:xfrm>
            <a:off x="5301671" y="2536704"/>
            <a:ext cx="1588655" cy="10156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서브 퀘스트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9DC2A67-432B-56D2-F63E-7A539DFE619A}"/>
              </a:ext>
            </a:extLst>
          </p:cNvPr>
          <p:cNvSpPr/>
          <p:nvPr/>
        </p:nvSpPr>
        <p:spPr>
          <a:xfrm>
            <a:off x="9421090" y="2536704"/>
            <a:ext cx="1588655" cy="1015663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>
                <a:solidFill>
                  <a:schemeClr val="tx1"/>
                </a:solidFill>
              </a:rPr>
              <a:t>레벨 탐사</a:t>
            </a:r>
          </a:p>
        </p:txBody>
      </p:sp>
      <p:cxnSp>
        <p:nvCxnSpPr>
          <p:cNvPr id="10" name="직선 화살표 연결선 9">
            <a:extLst>
              <a:ext uri="{FF2B5EF4-FFF2-40B4-BE49-F238E27FC236}">
                <a16:creationId xmlns:a16="http://schemas.microsoft.com/office/drawing/2014/main" id="{FF6BEA5B-B5FF-E973-2CF6-A2D9E38BDA49}"/>
              </a:ext>
            </a:extLst>
          </p:cNvPr>
          <p:cNvCxnSpPr>
            <a:cxnSpLocks/>
            <a:stCxn id="6" idx="2"/>
            <a:endCxn id="11" idx="0"/>
          </p:cNvCxnSpPr>
          <p:nvPr/>
        </p:nvCxnSpPr>
        <p:spPr>
          <a:xfrm flipH="1">
            <a:off x="1115290" y="3552368"/>
            <a:ext cx="1101438" cy="86376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48E4EE0E-83C9-E27F-CA21-A159023D61BF}"/>
              </a:ext>
            </a:extLst>
          </p:cNvPr>
          <p:cNvSpPr/>
          <p:nvPr/>
        </p:nvSpPr>
        <p:spPr>
          <a:xfrm>
            <a:off x="484907" y="4416137"/>
            <a:ext cx="1260765" cy="70692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900">
                <a:solidFill>
                  <a:schemeClr val="tx1"/>
                </a:solidFill>
              </a:rPr>
              <a:t>스토리 및 네러티브</a:t>
            </a:r>
          </a:p>
        </p:txBody>
      </p:sp>
      <p:cxnSp>
        <p:nvCxnSpPr>
          <p:cNvPr id="12" name="직선 화살표 연결선 11">
            <a:extLst>
              <a:ext uri="{FF2B5EF4-FFF2-40B4-BE49-F238E27FC236}">
                <a16:creationId xmlns:a16="http://schemas.microsoft.com/office/drawing/2014/main" id="{60FC73C0-97F3-988E-6390-C6FF6D62612F}"/>
              </a:ext>
            </a:extLst>
          </p:cNvPr>
          <p:cNvCxnSpPr>
            <a:cxnSpLocks/>
            <a:stCxn id="6" idx="2"/>
            <a:endCxn id="16" idx="0"/>
          </p:cNvCxnSpPr>
          <p:nvPr/>
        </p:nvCxnSpPr>
        <p:spPr>
          <a:xfrm>
            <a:off x="2216728" y="3552368"/>
            <a:ext cx="789710" cy="86376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5F611BBE-C93A-BCF7-9836-09818FEDDFBC}"/>
              </a:ext>
            </a:extLst>
          </p:cNvPr>
          <p:cNvSpPr/>
          <p:nvPr/>
        </p:nvSpPr>
        <p:spPr>
          <a:xfrm>
            <a:off x="2376055" y="4416137"/>
            <a:ext cx="1260765" cy="70692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>
                <a:solidFill>
                  <a:schemeClr val="tx1"/>
                </a:solidFill>
              </a:rPr>
              <a:t>메인 보스 및 전투</a:t>
            </a: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3A5DCED5-3937-9304-B229-1183FE7B50BA}"/>
              </a:ext>
            </a:extLst>
          </p:cNvPr>
          <p:cNvSpPr/>
          <p:nvPr/>
        </p:nvSpPr>
        <p:spPr>
          <a:xfrm>
            <a:off x="4301842" y="4416137"/>
            <a:ext cx="1260765" cy="70692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50">
                <a:solidFill>
                  <a:schemeClr val="tx1"/>
                </a:solidFill>
              </a:rPr>
              <a:t>마을 재건</a:t>
            </a:r>
          </a:p>
        </p:txBody>
      </p:sp>
      <p:cxnSp>
        <p:nvCxnSpPr>
          <p:cNvPr id="24" name="직선 화살표 연결선 23">
            <a:extLst>
              <a:ext uri="{FF2B5EF4-FFF2-40B4-BE49-F238E27FC236}">
                <a16:creationId xmlns:a16="http://schemas.microsoft.com/office/drawing/2014/main" id="{E1954879-CEF0-5C49-176D-D612DE19F0B6}"/>
              </a:ext>
            </a:extLst>
          </p:cNvPr>
          <p:cNvCxnSpPr>
            <a:cxnSpLocks/>
            <a:stCxn id="7" idx="2"/>
            <a:endCxn id="23" idx="0"/>
          </p:cNvCxnSpPr>
          <p:nvPr/>
        </p:nvCxnSpPr>
        <p:spPr>
          <a:xfrm flipH="1">
            <a:off x="4932225" y="3552367"/>
            <a:ext cx="1163774" cy="86377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직사각형 36">
            <a:extLst>
              <a:ext uri="{FF2B5EF4-FFF2-40B4-BE49-F238E27FC236}">
                <a16:creationId xmlns:a16="http://schemas.microsoft.com/office/drawing/2014/main" id="{0E411398-3033-F0EF-384C-DFC681BA8510}"/>
              </a:ext>
            </a:extLst>
          </p:cNvPr>
          <p:cNvSpPr/>
          <p:nvPr/>
        </p:nvSpPr>
        <p:spPr>
          <a:xfrm>
            <a:off x="6583211" y="4416137"/>
            <a:ext cx="1260765" cy="70692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캐릭터 강화</a:t>
            </a:r>
          </a:p>
        </p:txBody>
      </p: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A6ED8891-F2E5-34C0-B1AB-40236547EBED}"/>
              </a:ext>
            </a:extLst>
          </p:cNvPr>
          <p:cNvCxnSpPr>
            <a:cxnSpLocks/>
            <a:stCxn id="7" idx="2"/>
            <a:endCxn id="37" idx="0"/>
          </p:cNvCxnSpPr>
          <p:nvPr/>
        </p:nvCxnSpPr>
        <p:spPr>
          <a:xfrm>
            <a:off x="6095999" y="3552367"/>
            <a:ext cx="1117595" cy="86377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직사각형 44">
            <a:extLst>
              <a:ext uri="{FF2B5EF4-FFF2-40B4-BE49-F238E27FC236}">
                <a16:creationId xmlns:a16="http://schemas.microsoft.com/office/drawing/2014/main" id="{DBA97930-6B32-7C78-A6B3-3D08C516C035}"/>
              </a:ext>
            </a:extLst>
          </p:cNvPr>
          <p:cNvSpPr/>
          <p:nvPr/>
        </p:nvSpPr>
        <p:spPr>
          <a:xfrm>
            <a:off x="8555180" y="4416137"/>
            <a:ext cx="1260765" cy="70692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랜덤 인카운터</a:t>
            </a:r>
          </a:p>
        </p:txBody>
      </p: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40BC820C-5439-9797-184C-08884A3C2A11}"/>
              </a:ext>
            </a:extLst>
          </p:cNvPr>
          <p:cNvSpPr/>
          <p:nvPr/>
        </p:nvSpPr>
        <p:spPr>
          <a:xfrm>
            <a:off x="10536384" y="4416137"/>
            <a:ext cx="1260765" cy="70692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100">
                <a:solidFill>
                  <a:schemeClr val="tx1"/>
                </a:solidFill>
              </a:rPr>
              <a:t>수집물 및 도감</a:t>
            </a:r>
          </a:p>
        </p:txBody>
      </p:sp>
      <p:cxnSp>
        <p:nvCxnSpPr>
          <p:cNvPr id="47" name="직선 화살표 연결선 46">
            <a:extLst>
              <a:ext uri="{FF2B5EF4-FFF2-40B4-BE49-F238E27FC236}">
                <a16:creationId xmlns:a16="http://schemas.microsoft.com/office/drawing/2014/main" id="{2CD624C3-30D8-2157-3C11-3FA13BFA9596}"/>
              </a:ext>
            </a:extLst>
          </p:cNvPr>
          <p:cNvCxnSpPr>
            <a:cxnSpLocks/>
            <a:stCxn id="9" idx="2"/>
            <a:endCxn id="45" idx="0"/>
          </p:cNvCxnSpPr>
          <p:nvPr/>
        </p:nvCxnSpPr>
        <p:spPr>
          <a:xfrm flipH="1">
            <a:off x="9185563" y="3552367"/>
            <a:ext cx="1029855" cy="86377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직선 화살표 연결선 50">
            <a:extLst>
              <a:ext uri="{FF2B5EF4-FFF2-40B4-BE49-F238E27FC236}">
                <a16:creationId xmlns:a16="http://schemas.microsoft.com/office/drawing/2014/main" id="{151B57EF-C212-74FE-7688-450C66011E5F}"/>
              </a:ext>
            </a:extLst>
          </p:cNvPr>
          <p:cNvCxnSpPr>
            <a:cxnSpLocks/>
            <a:stCxn id="9" idx="2"/>
            <a:endCxn id="46" idx="0"/>
          </p:cNvCxnSpPr>
          <p:nvPr/>
        </p:nvCxnSpPr>
        <p:spPr>
          <a:xfrm>
            <a:off x="10215418" y="3552367"/>
            <a:ext cx="951349" cy="86377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07649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98DE38-530B-3DDC-7716-498E40B40138}"/>
              </a:ext>
            </a:extLst>
          </p:cNvPr>
          <p:cNvSpPr txBox="1"/>
          <p:nvPr/>
        </p:nvSpPr>
        <p:spPr>
          <a:xfrm>
            <a:off x="1745672" y="136236"/>
            <a:ext cx="87006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b="1"/>
              <a:t>프로젝트 방향성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C35348-F84E-C9E1-3933-3DFB9B6CD882}"/>
              </a:ext>
            </a:extLst>
          </p:cNvPr>
          <p:cNvSpPr txBox="1"/>
          <p:nvPr/>
        </p:nvSpPr>
        <p:spPr>
          <a:xfrm>
            <a:off x="4608943" y="1493461"/>
            <a:ext cx="297411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/>
              <a:t>그래픽</a:t>
            </a:r>
          </a:p>
        </p:txBody>
      </p:sp>
      <p:pic>
        <p:nvPicPr>
          <p:cNvPr id="1026" name="Picture 2" descr="SILENT HILL f_일곱꼬리여우&amp;아흔아홉신 짙은안개 난이도(4회차) - YouTube">
            <a:extLst>
              <a:ext uri="{FF2B5EF4-FFF2-40B4-BE49-F238E27FC236}">
                <a16:creationId xmlns:a16="http://schemas.microsoft.com/office/drawing/2014/main" id="{F2F2F2CB-68A4-15F5-B5C6-A3260DF47D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106" y="2918689"/>
            <a:ext cx="3500987" cy="1969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수묵화 이미지 - Freepik에서 무료 다운로드">
            <a:extLst>
              <a:ext uri="{FF2B5EF4-FFF2-40B4-BE49-F238E27FC236}">
                <a16:creationId xmlns:a16="http://schemas.microsoft.com/office/drawing/2014/main" id="{48B521AD-D806-C6D3-1A7D-868D5D1C566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04531" y="2918688"/>
            <a:ext cx="2782935" cy="1969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불교미술 본연문도회 제8회 '불화이야기' 展 &lt; 문화·대중문화 &lt; 문화 &lt; 기사본문 - 현대불교">
            <a:extLst>
              <a:ext uri="{FF2B5EF4-FFF2-40B4-BE49-F238E27FC236}">
                <a16:creationId xmlns:a16="http://schemas.microsoft.com/office/drawing/2014/main" id="{FF38D1B9-F26E-136C-4751-19E6B3072C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9211" y="2918687"/>
            <a:ext cx="2271819" cy="196994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657286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98DE38-530B-3DDC-7716-498E40B40138}"/>
              </a:ext>
            </a:extLst>
          </p:cNvPr>
          <p:cNvSpPr txBox="1"/>
          <p:nvPr/>
        </p:nvSpPr>
        <p:spPr>
          <a:xfrm>
            <a:off x="1745672" y="2583876"/>
            <a:ext cx="87006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b="1"/>
              <a:t>프로젝트 목표</a:t>
            </a:r>
          </a:p>
        </p:txBody>
      </p:sp>
    </p:spTree>
    <p:extLst>
      <p:ext uri="{BB962C8B-B14F-4D97-AF65-F5344CB8AC3E}">
        <p14:creationId xmlns:p14="http://schemas.microsoft.com/office/powerpoint/2010/main" val="425797812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98DE38-530B-3DDC-7716-498E40B40138}"/>
              </a:ext>
            </a:extLst>
          </p:cNvPr>
          <p:cNvSpPr txBox="1"/>
          <p:nvPr/>
        </p:nvSpPr>
        <p:spPr>
          <a:xfrm>
            <a:off x="1745672" y="136236"/>
            <a:ext cx="87006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b="1"/>
              <a:t>프로젝트 목표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457CE1-2932-CB54-7B45-66276CEA29C3}"/>
              </a:ext>
            </a:extLst>
          </p:cNvPr>
          <p:cNvSpPr txBox="1"/>
          <p:nvPr/>
        </p:nvSpPr>
        <p:spPr>
          <a:xfrm>
            <a:off x="318289" y="3276798"/>
            <a:ext cx="299085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400"/>
              <a:t>방어의 부담을 낮춘 전투 시스템</a:t>
            </a:r>
          </a:p>
        </p:txBody>
      </p:sp>
      <p:cxnSp>
        <p:nvCxnSpPr>
          <p:cNvPr id="13" name="직선 화살표 연결선 12">
            <a:extLst>
              <a:ext uri="{FF2B5EF4-FFF2-40B4-BE49-F238E27FC236}">
                <a16:creationId xmlns:a16="http://schemas.microsoft.com/office/drawing/2014/main" id="{5A24670A-E06C-794F-2D8A-C2C79E552501}"/>
              </a:ext>
            </a:extLst>
          </p:cNvPr>
          <p:cNvCxnSpPr>
            <a:cxnSpLocks/>
            <a:stCxn id="2" idx="2"/>
            <a:endCxn id="22" idx="0"/>
          </p:cNvCxnSpPr>
          <p:nvPr/>
        </p:nvCxnSpPr>
        <p:spPr>
          <a:xfrm>
            <a:off x="1813714" y="3584575"/>
            <a:ext cx="1086717" cy="449176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B5FAC1CF-7A0A-E1F7-67BC-CAAF9E44FB14}"/>
              </a:ext>
            </a:extLst>
          </p:cNvPr>
          <p:cNvCxnSpPr>
            <a:cxnSpLocks/>
            <a:stCxn id="2" idx="2"/>
            <a:endCxn id="21" idx="0"/>
          </p:cNvCxnSpPr>
          <p:nvPr/>
        </p:nvCxnSpPr>
        <p:spPr>
          <a:xfrm flipH="1">
            <a:off x="691375" y="3584575"/>
            <a:ext cx="1122339" cy="450634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840DE339-D782-D887-2BFC-599DA4F1B8D4}"/>
              </a:ext>
            </a:extLst>
          </p:cNvPr>
          <p:cNvSpPr txBox="1"/>
          <p:nvPr/>
        </p:nvSpPr>
        <p:spPr>
          <a:xfrm>
            <a:off x="27978" y="4035209"/>
            <a:ext cx="132679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/>
              <a:t>자동 방어 시스템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33FB30F-9F92-9E75-CA72-89015C383D06}"/>
              </a:ext>
            </a:extLst>
          </p:cNvPr>
          <p:cNvSpPr txBox="1"/>
          <p:nvPr/>
        </p:nvSpPr>
        <p:spPr>
          <a:xfrm>
            <a:off x="1347856" y="4033751"/>
            <a:ext cx="310515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00"/>
              <a:t>종족을 유추하여 대응하는 전투 방식</a:t>
            </a:r>
          </a:p>
        </p:txBody>
      </p:sp>
      <p:cxnSp>
        <p:nvCxnSpPr>
          <p:cNvPr id="25" name="직선 연결선 24">
            <a:extLst>
              <a:ext uri="{FF2B5EF4-FFF2-40B4-BE49-F238E27FC236}">
                <a16:creationId xmlns:a16="http://schemas.microsoft.com/office/drawing/2014/main" id="{49EC1200-AE20-EAC2-6639-2EBD131618EE}"/>
              </a:ext>
            </a:extLst>
          </p:cNvPr>
          <p:cNvCxnSpPr/>
          <p:nvPr/>
        </p:nvCxnSpPr>
        <p:spPr>
          <a:xfrm>
            <a:off x="4076700" y="2573982"/>
            <a:ext cx="0" cy="318135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E36103F0-BE5F-DCB1-8ECD-174E9B73F351}"/>
              </a:ext>
            </a:extLst>
          </p:cNvPr>
          <p:cNvSpPr txBox="1"/>
          <p:nvPr/>
        </p:nvSpPr>
        <p:spPr>
          <a:xfrm>
            <a:off x="4740098" y="3199339"/>
            <a:ext cx="28384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/>
              <a:t>그래프 노드 형태의 레벨 디자인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7632031-2DF8-7699-EFED-6FA9A741D728}"/>
              </a:ext>
            </a:extLst>
          </p:cNvPr>
          <p:cNvSpPr txBox="1"/>
          <p:nvPr/>
        </p:nvSpPr>
        <p:spPr>
          <a:xfrm>
            <a:off x="4065878" y="3925514"/>
            <a:ext cx="26765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/>
              <a:t>안전 지대와 전투 지역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FED6D23-15B8-4300-B64C-C71215B93DFA}"/>
              </a:ext>
            </a:extLst>
          </p:cNvPr>
          <p:cNvSpPr txBox="1"/>
          <p:nvPr/>
        </p:nvSpPr>
        <p:spPr>
          <a:xfrm>
            <a:off x="5764355" y="3925514"/>
            <a:ext cx="24003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/>
              <a:t>선형적 레벨 디자인</a:t>
            </a:r>
          </a:p>
        </p:txBody>
      </p:sp>
      <p:cxnSp>
        <p:nvCxnSpPr>
          <p:cNvPr id="34" name="직선 화살표 연결선 33">
            <a:extLst>
              <a:ext uri="{FF2B5EF4-FFF2-40B4-BE49-F238E27FC236}">
                <a16:creationId xmlns:a16="http://schemas.microsoft.com/office/drawing/2014/main" id="{3EC2521B-0DDA-319D-F731-31E8906FBDC3}"/>
              </a:ext>
            </a:extLst>
          </p:cNvPr>
          <p:cNvCxnSpPr>
            <a:cxnSpLocks/>
            <a:stCxn id="26" idx="2"/>
            <a:endCxn id="29" idx="0"/>
          </p:cNvCxnSpPr>
          <p:nvPr/>
        </p:nvCxnSpPr>
        <p:spPr>
          <a:xfrm flipH="1">
            <a:off x="5404138" y="3476338"/>
            <a:ext cx="755185" cy="449176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직선 화살표 연결선 39">
            <a:extLst>
              <a:ext uri="{FF2B5EF4-FFF2-40B4-BE49-F238E27FC236}">
                <a16:creationId xmlns:a16="http://schemas.microsoft.com/office/drawing/2014/main" id="{07F94D3B-7A21-43E1-EB7B-0B2FA443FFDE}"/>
              </a:ext>
            </a:extLst>
          </p:cNvPr>
          <p:cNvCxnSpPr>
            <a:cxnSpLocks/>
            <a:stCxn id="26" idx="2"/>
            <a:endCxn id="33" idx="0"/>
          </p:cNvCxnSpPr>
          <p:nvPr/>
        </p:nvCxnSpPr>
        <p:spPr>
          <a:xfrm>
            <a:off x="6159323" y="3476338"/>
            <a:ext cx="805182" cy="449176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B965DAF1-6972-8FB9-4CB9-895CA2E0D65E}"/>
              </a:ext>
            </a:extLst>
          </p:cNvPr>
          <p:cNvSpPr txBox="1"/>
          <p:nvPr/>
        </p:nvSpPr>
        <p:spPr>
          <a:xfrm>
            <a:off x="10083516" y="3912099"/>
            <a:ext cx="22011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/>
              <a:t>SFX</a:t>
            </a:r>
            <a:r>
              <a:rPr lang="ko-KR" altLang="en-US" sz="1000"/>
              <a:t>를 기반으로 한 정보 제공</a:t>
            </a: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265FC5C7-B067-C9DF-C616-50BD163F6960}"/>
              </a:ext>
            </a:extLst>
          </p:cNvPr>
          <p:cNvSpPr txBox="1"/>
          <p:nvPr/>
        </p:nvSpPr>
        <p:spPr>
          <a:xfrm>
            <a:off x="8752179" y="3188641"/>
            <a:ext cx="28384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200"/>
              <a:t>플레이를 보조하는 사운드 디자인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4E0694E2-B884-9190-6EF4-5F03AD4E9286}"/>
              </a:ext>
            </a:extLst>
          </p:cNvPr>
          <p:cNvSpPr txBox="1"/>
          <p:nvPr/>
        </p:nvSpPr>
        <p:spPr>
          <a:xfrm>
            <a:off x="7920256" y="3919207"/>
            <a:ext cx="2676519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050"/>
              <a:t>테마와 컨셉에 어울리는 </a:t>
            </a:r>
            <a:r>
              <a:rPr lang="en-US" altLang="ko-KR" sz="1050"/>
              <a:t>BGM</a:t>
            </a:r>
            <a:endParaRPr lang="ko-KR" altLang="en-US" sz="1050"/>
          </a:p>
        </p:txBody>
      </p:sp>
      <p:cxnSp>
        <p:nvCxnSpPr>
          <p:cNvPr id="63" name="직선 화살표 연결선 62">
            <a:extLst>
              <a:ext uri="{FF2B5EF4-FFF2-40B4-BE49-F238E27FC236}">
                <a16:creationId xmlns:a16="http://schemas.microsoft.com/office/drawing/2014/main" id="{B01C9AB5-0745-F42A-0C7C-1D4747703CD9}"/>
              </a:ext>
            </a:extLst>
          </p:cNvPr>
          <p:cNvCxnSpPr>
            <a:cxnSpLocks/>
            <a:stCxn id="60" idx="2"/>
            <a:endCxn id="61" idx="0"/>
          </p:cNvCxnSpPr>
          <p:nvPr/>
        </p:nvCxnSpPr>
        <p:spPr>
          <a:xfrm flipH="1">
            <a:off x="9258516" y="3465640"/>
            <a:ext cx="912888" cy="453567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직선 화살표 연결선 63">
            <a:extLst>
              <a:ext uri="{FF2B5EF4-FFF2-40B4-BE49-F238E27FC236}">
                <a16:creationId xmlns:a16="http://schemas.microsoft.com/office/drawing/2014/main" id="{52AEFF31-DCC4-9F3E-8666-8297A7A94440}"/>
              </a:ext>
            </a:extLst>
          </p:cNvPr>
          <p:cNvCxnSpPr>
            <a:cxnSpLocks/>
            <a:stCxn id="60" idx="2"/>
            <a:endCxn id="53" idx="0"/>
          </p:cNvCxnSpPr>
          <p:nvPr/>
        </p:nvCxnSpPr>
        <p:spPr>
          <a:xfrm>
            <a:off x="10171404" y="3465640"/>
            <a:ext cx="1012675" cy="446459"/>
          </a:xfrm>
          <a:prstGeom prst="straightConnector1">
            <a:avLst/>
          </a:prstGeom>
          <a:ln w="2222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직선 연결선 65">
            <a:extLst>
              <a:ext uri="{FF2B5EF4-FFF2-40B4-BE49-F238E27FC236}">
                <a16:creationId xmlns:a16="http://schemas.microsoft.com/office/drawing/2014/main" id="{651425D3-9874-DC57-CA8A-04CC7E9CD8B5}"/>
              </a:ext>
            </a:extLst>
          </p:cNvPr>
          <p:cNvCxnSpPr/>
          <p:nvPr/>
        </p:nvCxnSpPr>
        <p:spPr>
          <a:xfrm>
            <a:off x="8296275" y="2573982"/>
            <a:ext cx="0" cy="3181350"/>
          </a:xfrm>
          <a:prstGeom prst="line">
            <a:avLst/>
          </a:prstGeom>
          <a:ln w="28575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extBox 74">
            <a:extLst>
              <a:ext uri="{FF2B5EF4-FFF2-40B4-BE49-F238E27FC236}">
                <a16:creationId xmlns:a16="http://schemas.microsoft.com/office/drawing/2014/main" id="{C380D04A-3E86-F337-59FA-13463767DF01}"/>
              </a:ext>
            </a:extLst>
          </p:cNvPr>
          <p:cNvSpPr txBox="1"/>
          <p:nvPr/>
        </p:nvSpPr>
        <p:spPr>
          <a:xfrm>
            <a:off x="795125" y="2407861"/>
            <a:ext cx="2524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/>
              <a:t>프로그래밍</a:t>
            </a:r>
          </a:p>
        </p:txBody>
      </p:sp>
      <p:sp>
        <p:nvSpPr>
          <p:cNvPr id="76" name="TextBox 75">
            <a:extLst>
              <a:ext uri="{FF2B5EF4-FFF2-40B4-BE49-F238E27FC236}">
                <a16:creationId xmlns:a16="http://schemas.microsoft.com/office/drawing/2014/main" id="{532A0449-8E19-7A73-0DB9-D0373A9BF20E}"/>
              </a:ext>
            </a:extLst>
          </p:cNvPr>
          <p:cNvSpPr txBox="1"/>
          <p:nvPr/>
        </p:nvSpPr>
        <p:spPr>
          <a:xfrm>
            <a:off x="4841363" y="2407861"/>
            <a:ext cx="2524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/>
              <a:t>레벨 컨셉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4DA19AD6-9E3A-940F-AFAD-F849B2ACDE7E}"/>
              </a:ext>
            </a:extLst>
          </p:cNvPr>
          <p:cNvSpPr txBox="1"/>
          <p:nvPr/>
        </p:nvSpPr>
        <p:spPr>
          <a:xfrm>
            <a:off x="9060937" y="2415573"/>
            <a:ext cx="2524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2800" b="1"/>
              <a:t>사운드</a:t>
            </a:r>
          </a:p>
        </p:txBody>
      </p:sp>
    </p:spTree>
    <p:extLst>
      <p:ext uri="{BB962C8B-B14F-4D97-AF65-F5344CB8AC3E}">
        <p14:creationId xmlns:p14="http://schemas.microsoft.com/office/powerpoint/2010/main" val="1190954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98DE38-530B-3DDC-7716-498E40B40138}"/>
              </a:ext>
            </a:extLst>
          </p:cNvPr>
          <p:cNvSpPr txBox="1"/>
          <p:nvPr/>
        </p:nvSpPr>
        <p:spPr>
          <a:xfrm>
            <a:off x="1745672" y="136236"/>
            <a:ext cx="87006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b="1"/>
              <a:t>프로젝트 목표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C2D74E-CA5E-2B79-3560-384EC534F36C}"/>
              </a:ext>
            </a:extLst>
          </p:cNvPr>
          <p:cNvSpPr txBox="1"/>
          <p:nvPr/>
        </p:nvSpPr>
        <p:spPr>
          <a:xfrm>
            <a:off x="564216" y="1502697"/>
            <a:ext cx="2524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/>
              <a:t>1</a:t>
            </a:r>
            <a:r>
              <a:rPr lang="ko-KR" altLang="en-US" sz="2800" b="1"/>
              <a:t>차 목표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E6D35D-8D47-8A82-AD9F-620866230CEB}"/>
              </a:ext>
            </a:extLst>
          </p:cNvPr>
          <p:cNvSpPr txBox="1"/>
          <p:nvPr/>
        </p:nvSpPr>
        <p:spPr>
          <a:xfrm>
            <a:off x="564215" y="2222826"/>
            <a:ext cx="632611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/>
              <a:t>PoC(</a:t>
            </a:r>
            <a:r>
              <a:rPr lang="ko-KR" altLang="en-US"/>
              <a:t>재미 검증</a:t>
            </a:r>
            <a:r>
              <a:rPr lang="en-US" altLang="ko-KR"/>
              <a:t>)</a:t>
            </a:r>
            <a:r>
              <a:rPr lang="ko-KR" altLang="en-US"/>
              <a:t>가능한 기본 전투 모델 구축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협업 프로세스 정립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팀원 모집</a:t>
            </a:r>
            <a:endParaRPr lang="en-US" altLang="ko-KR"/>
          </a:p>
          <a:p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69530908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98DE38-530B-3DDC-7716-498E40B40138}"/>
              </a:ext>
            </a:extLst>
          </p:cNvPr>
          <p:cNvSpPr txBox="1"/>
          <p:nvPr/>
        </p:nvSpPr>
        <p:spPr>
          <a:xfrm>
            <a:off x="1745672" y="2583876"/>
            <a:ext cx="87006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b="1"/>
              <a:t>협업 체계 구축</a:t>
            </a:r>
          </a:p>
        </p:txBody>
      </p:sp>
    </p:spTree>
    <p:extLst>
      <p:ext uri="{BB962C8B-B14F-4D97-AF65-F5344CB8AC3E}">
        <p14:creationId xmlns:p14="http://schemas.microsoft.com/office/powerpoint/2010/main" val="322085235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98DE38-530B-3DDC-7716-498E40B40138}"/>
              </a:ext>
            </a:extLst>
          </p:cNvPr>
          <p:cNvSpPr txBox="1"/>
          <p:nvPr/>
        </p:nvSpPr>
        <p:spPr>
          <a:xfrm>
            <a:off x="1745672" y="136236"/>
            <a:ext cx="87006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b="1"/>
              <a:t>협업 체계 구축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457CE1-2932-CB54-7B45-66276CEA29C3}"/>
              </a:ext>
            </a:extLst>
          </p:cNvPr>
          <p:cNvSpPr txBox="1"/>
          <p:nvPr/>
        </p:nvSpPr>
        <p:spPr>
          <a:xfrm>
            <a:off x="304800" y="3083867"/>
            <a:ext cx="33051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sz="120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380D04A-3E86-F337-59FA-13463767DF01}"/>
              </a:ext>
            </a:extLst>
          </p:cNvPr>
          <p:cNvSpPr txBox="1"/>
          <p:nvPr/>
        </p:nvSpPr>
        <p:spPr>
          <a:xfrm>
            <a:off x="564216" y="1502697"/>
            <a:ext cx="2524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/>
              <a:t>1.</a:t>
            </a:r>
            <a:r>
              <a:rPr lang="ko-KR" altLang="en-US" sz="2800" b="1"/>
              <a:t> 지원자 검토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05397E-1965-E53F-CDBA-D2F657885448}"/>
              </a:ext>
            </a:extLst>
          </p:cNvPr>
          <p:cNvSpPr txBox="1"/>
          <p:nvPr/>
        </p:nvSpPr>
        <p:spPr>
          <a:xfrm>
            <a:off x="564215" y="2222826"/>
            <a:ext cx="10741094" cy="261610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지원자 발생시 총 책임자와 팀장급이 지원자 검토에 참여한다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총 책임자는 팀장급에게 지원자의 포트폴리오를 공유하고 질의 참여 권한을 부여한다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 sz="2000" b="1"/>
              <a:t>지원자 질의 후</a:t>
            </a:r>
            <a:endParaRPr lang="en-US" altLang="ko-KR" sz="2000" b="1"/>
          </a:p>
          <a:p>
            <a:endParaRPr lang="en-US" altLang="ko-KR"/>
          </a:p>
          <a:p>
            <a:r>
              <a:rPr lang="ko-KR" altLang="en-US"/>
              <a:t>총 책임자와 팀장급은 지원자를 검토하고 팀 합류를 결정한다</a:t>
            </a:r>
            <a:r>
              <a:rPr lang="en-US" altLang="ko-KR"/>
              <a:t>.</a:t>
            </a:r>
          </a:p>
          <a:p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99629193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98DE38-530B-3DDC-7716-498E40B40138}"/>
              </a:ext>
            </a:extLst>
          </p:cNvPr>
          <p:cNvSpPr txBox="1"/>
          <p:nvPr/>
        </p:nvSpPr>
        <p:spPr>
          <a:xfrm>
            <a:off x="1745672" y="136236"/>
            <a:ext cx="87006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b="1"/>
              <a:t>협업 체계 구축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457CE1-2932-CB54-7B45-66276CEA29C3}"/>
              </a:ext>
            </a:extLst>
          </p:cNvPr>
          <p:cNvSpPr txBox="1"/>
          <p:nvPr/>
        </p:nvSpPr>
        <p:spPr>
          <a:xfrm>
            <a:off x="304800" y="3083867"/>
            <a:ext cx="33051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sz="120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380D04A-3E86-F337-59FA-13463767DF01}"/>
              </a:ext>
            </a:extLst>
          </p:cNvPr>
          <p:cNvSpPr txBox="1"/>
          <p:nvPr/>
        </p:nvSpPr>
        <p:spPr>
          <a:xfrm>
            <a:off x="564216" y="1502697"/>
            <a:ext cx="2524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/>
              <a:t>2.</a:t>
            </a:r>
            <a:r>
              <a:rPr lang="ko-KR" altLang="en-US" sz="2800" b="1"/>
              <a:t> 목표 설정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05397E-1965-E53F-CDBA-D2F657885448}"/>
              </a:ext>
            </a:extLst>
          </p:cNvPr>
          <p:cNvSpPr txBox="1"/>
          <p:nvPr/>
        </p:nvSpPr>
        <p:spPr>
          <a:xfrm>
            <a:off x="564215" y="2222826"/>
            <a:ext cx="10741094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총 책임자와 팀장급은 모든 업무에 앞서 핵심 목표를 설정한다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 sz="2000" b="1"/>
              <a:t>핵심 목표</a:t>
            </a:r>
            <a:r>
              <a:rPr lang="en-US" altLang="ko-KR" sz="2000" b="1"/>
              <a:t>(</a:t>
            </a:r>
            <a:r>
              <a:rPr lang="ko-KR" altLang="en-US" sz="2000" b="1"/>
              <a:t>대목표</a:t>
            </a:r>
            <a:r>
              <a:rPr lang="en-US" altLang="ko-KR" sz="2000" b="1"/>
              <a:t>)</a:t>
            </a:r>
            <a:r>
              <a:rPr lang="ko-KR" altLang="en-US"/>
              <a:t>는 개월 단위에 걸쳐 달성해야하는 프로젝트의 메인 목표이다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핵심 목표를 설정 한 후 총 책임자와 팀장급은 세부 목표와 파트별 목표를 설정한다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 sz="2000" b="1"/>
              <a:t>세부 목표</a:t>
            </a:r>
            <a:r>
              <a:rPr lang="en-US" altLang="ko-KR" sz="2000" b="1"/>
              <a:t>(</a:t>
            </a:r>
            <a:r>
              <a:rPr lang="ko-KR" altLang="en-US" sz="2000" b="1"/>
              <a:t>소목표</a:t>
            </a:r>
            <a:r>
              <a:rPr lang="en-US" altLang="ko-KR" sz="2000" b="1"/>
              <a:t>)</a:t>
            </a:r>
            <a:r>
              <a:rPr lang="ko-KR" altLang="en-US"/>
              <a:t>는 핵심 목표를 달성하기 위해 수행되어야 할 작업을 절차별</a:t>
            </a:r>
            <a:r>
              <a:rPr lang="en-US" altLang="ko-KR"/>
              <a:t>, </a:t>
            </a:r>
            <a:r>
              <a:rPr lang="ko-KR" altLang="en-US"/>
              <a:t>업무별로 세부 분해한 목표이다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 sz="2000" b="1"/>
              <a:t>파트별 목표</a:t>
            </a:r>
            <a:r>
              <a:rPr lang="ko-KR" altLang="en-US"/>
              <a:t>는 세부 목표를 달성하기 위해 기획</a:t>
            </a:r>
            <a:r>
              <a:rPr lang="en-US" altLang="ko-KR"/>
              <a:t>, </a:t>
            </a:r>
            <a:r>
              <a:rPr lang="ko-KR" altLang="en-US"/>
              <a:t>프로그래밍</a:t>
            </a:r>
            <a:r>
              <a:rPr lang="en-US" altLang="ko-KR"/>
              <a:t>, </a:t>
            </a:r>
            <a:r>
              <a:rPr lang="ko-KR" altLang="en-US"/>
              <a:t>그래픽</a:t>
            </a:r>
            <a:r>
              <a:rPr lang="en-US" altLang="ko-KR"/>
              <a:t>, </a:t>
            </a:r>
            <a:r>
              <a:rPr lang="ko-KR" altLang="en-US"/>
              <a:t>사운드 파트에서 수행해야하는 업무 목표이다</a:t>
            </a:r>
            <a:r>
              <a:rPr lang="en-US" altLang="ko-K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918565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98DE38-530B-3DDC-7716-498E40B40138}"/>
              </a:ext>
            </a:extLst>
          </p:cNvPr>
          <p:cNvSpPr txBox="1"/>
          <p:nvPr/>
        </p:nvSpPr>
        <p:spPr>
          <a:xfrm>
            <a:off x="1745672" y="136236"/>
            <a:ext cx="87006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b="1"/>
              <a:t>협업 체계 구축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457CE1-2932-CB54-7B45-66276CEA29C3}"/>
              </a:ext>
            </a:extLst>
          </p:cNvPr>
          <p:cNvSpPr txBox="1"/>
          <p:nvPr/>
        </p:nvSpPr>
        <p:spPr>
          <a:xfrm>
            <a:off x="304800" y="3083867"/>
            <a:ext cx="33051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sz="120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380D04A-3E86-F337-59FA-13463767DF01}"/>
              </a:ext>
            </a:extLst>
          </p:cNvPr>
          <p:cNvSpPr txBox="1"/>
          <p:nvPr/>
        </p:nvSpPr>
        <p:spPr>
          <a:xfrm>
            <a:off x="564215" y="1502697"/>
            <a:ext cx="35829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/>
              <a:t>3.</a:t>
            </a:r>
            <a:r>
              <a:rPr lang="ko-KR" altLang="en-US" sz="2800" b="1"/>
              <a:t> 파트별 목표 전달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05397E-1965-E53F-CDBA-D2F657885448}"/>
              </a:ext>
            </a:extLst>
          </p:cNvPr>
          <p:cNvSpPr txBox="1"/>
          <p:nvPr/>
        </p:nvSpPr>
        <p:spPr>
          <a:xfrm>
            <a:off x="564215" y="2222826"/>
            <a:ext cx="10741094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총 책임자와 팀장급 인원의 회의로 파트별 목표가 결정되면 파트 팀원에게 업무를 하달한다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 sz="2000" b="1"/>
              <a:t>총 책임자</a:t>
            </a:r>
            <a:r>
              <a:rPr lang="ko-KR" altLang="en-US"/>
              <a:t>는 해당 파트의 팀장급 팀원과 협의해서 파트 팀원들이 해야할 일을 발표</a:t>
            </a:r>
            <a:r>
              <a:rPr lang="en-US" altLang="ko-KR"/>
              <a:t>, </a:t>
            </a:r>
            <a:r>
              <a:rPr lang="ko-KR" altLang="en-US"/>
              <a:t>전달한다</a:t>
            </a:r>
            <a:r>
              <a:rPr lang="en-US" altLang="ko-KR"/>
              <a:t>. </a:t>
            </a:r>
            <a:r>
              <a:rPr lang="ko-KR" altLang="en-US"/>
              <a:t>이때 총 책임자가 목표</a:t>
            </a:r>
            <a:r>
              <a:rPr lang="en-US" altLang="ko-KR"/>
              <a:t>, </a:t>
            </a:r>
            <a:r>
              <a:rPr lang="ko-KR" altLang="en-US"/>
              <a:t>목표가 선정된 이유와 의도를 모든 파트 팀원에게 공개된 매체</a:t>
            </a:r>
            <a:r>
              <a:rPr lang="en-US" altLang="ko-KR"/>
              <a:t>(</a:t>
            </a:r>
            <a:r>
              <a:rPr lang="ko-KR" altLang="en-US"/>
              <a:t>회의</a:t>
            </a:r>
            <a:r>
              <a:rPr lang="en-US" altLang="ko-KR"/>
              <a:t>, </a:t>
            </a:r>
            <a:r>
              <a:rPr lang="ko-KR" altLang="en-US"/>
              <a:t>공지 등</a:t>
            </a:r>
            <a:r>
              <a:rPr lang="en-US" altLang="ko-KR"/>
              <a:t>)</a:t>
            </a:r>
            <a:r>
              <a:rPr lang="ko-KR" altLang="en-US"/>
              <a:t>로 전달해야한다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 sz="2000" b="1"/>
              <a:t>팀장급 팀원</a:t>
            </a:r>
            <a:r>
              <a:rPr lang="ko-KR" altLang="en-US"/>
              <a:t>은 파트별 목표를 달성하기 위해 각 파트 팀원이 수행해야할 업무를 분배하고 이를 설명한다</a:t>
            </a:r>
            <a:r>
              <a:rPr lang="en-US" altLang="ko-KR"/>
              <a:t>. </a:t>
            </a:r>
            <a:r>
              <a:rPr lang="ko-KR" altLang="en-US"/>
              <a:t>또한 다른 파트에서 오는 요청사항을 파트 팀원에게 전달한다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총 책임자와 팀장급 팀원은 파트별 목표를 전달하는 과정에서 추가 의견을 수렴하고</a:t>
            </a:r>
            <a:r>
              <a:rPr lang="en-US" altLang="ko-KR"/>
              <a:t>, </a:t>
            </a:r>
            <a:r>
              <a:rPr lang="ko-KR" altLang="en-US"/>
              <a:t>목표를 보완 및 보충한다</a:t>
            </a:r>
            <a:r>
              <a:rPr lang="en-US" altLang="ko-KR"/>
              <a:t>.</a:t>
            </a:r>
          </a:p>
          <a:p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7174184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98DE38-530B-3DDC-7716-498E40B40138}"/>
              </a:ext>
            </a:extLst>
          </p:cNvPr>
          <p:cNvSpPr txBox="1"/>
          <p:nvPr/>
        </p:nvSpPr>
        <p:spPr>
          <a:xfrm>
            <a:off x="1745672" y="136236"/>
            <a:ext cx="87006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b="1"/>
              <a:t>협업 체계 구축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457CE1-2932-CB54-7B45-66276CEA29C3}"/>
              </a:ext>
            </a:extLst>
          </p:cNvPr>
          <p:cNvSpPr txBox="1"/>
          <p:nvPr/>
        </p:nvSpPr>
        <p:spPr>
          <a:xfrm>
            <a:off x="304800" y="3083867"/>
            <a:ext cx="33051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sz="120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380D04A-3E86-F337-59FA-13463767DF01}"/>
              </a:ext>
            </a:extLst>
          </p:cNvPr>
          <p:cNvSpPr txBox="1"/>
          <p:nvPr/>
        </p:nvSpPr>
        <p:spPr>
          <a:xfrm>
            <a:off x="564215" y="1502697"/>
            <a:ext cx="35829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/>
              <a:t>4.</a:t>
            </a:r>
            <a:r>
              <a:rPr lang="ko-KR" altLang="en-US" sz="2800" b="1"/>
              <a:t> 파트별 목표 수행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05397E-1965-E53F-CDBA-D2F657885448}"/>
              </a:ext>
            </a:extLst>
          </p:cNvPr>
          <p:cNvSpPr txBox="1"/>
          <p:nvPr/>
        </p:nvSpPr>
        <p:spPr>
          <a:xfrm>
            <a:off x="564215" y="2222826"/>
            <a:ext cx="10741094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팀장급 팀원과 파트 팀원은 파트별 목표를 달성하기 위한 스프린트 계획을 수립하고 이를 이행한다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 sz="2000" b="1"/>
              <a:t>팀장급 팀원</a:t>
            </a:r>
            <a:r>
              <a:rPr lang="ko-KR" altLang="en-US"/>
              <a:t>은 파트 팀원들의 전체적인 작업 수행을 조율하고 목표를 달성하기 적합한 업무 배분과 타 파트와의 소통을 전담한다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 sz="2000" b="1"/>
              <a:t>파트 팀원</a:t>
            </a:r>
            <a:r>
              <a:rPr lang="ko-KR" altLang="en-US"/>
              <a:t>은 팀장급 팀원의 지시를 이행하며 본인에게 하달된 작업을 수행한다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 sz="2000" b="1"/>
              <a:t>총 책임자</a:t>
            </a:r>
            <a:r>
              <a:rPr lang="ko-KR" altLang="en-US"/>
              <a:t>는 스프린트 일정이 장기화될 경우 중간 회의에 참여하여 경과를 확인하고</a:t>
            </a:r>
            <a:r>
              <a:rPr lang="en-US" altLang="ko-KR"/>
              <a:t>, </a:t>
            </a:r>
            <a:r>
              <a:rPr lang="ko-KR" altLang="en-US"/>
              <a:t>수정사항을 지시한다</a:t>
            </a:r>
            <a:r>
              <a:rPr lang="en-US" altLang="ko-KR"/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177586500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98DE38-530B-3DDC-7716-498E40B40138}"/>
              </a:ext>
            </a:extLst>
          </p:cNvPr>
          <p:cNvSpPr txBox="1"/>
          <p:nvPr/>
        </p:nvSpPr>
        <p:spPr>
          <a:xfrm>
            <a:off x="1745672" y="136236"/>
            <a:ext cx="87006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b="1"/>
              <a:t>협업 체계 구축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C457CE1-2932-CB54-7B45-66276CEA29C3}"/>
              </a:ext>
            </a:extLst>
          </p:cNvPr>
          <p:cNvSpPr txBox="1"/>
          <p:nvPr/>
        </p:nvSpPr>
        <p:spPr>
          <a:xfrm>
            <a:off x="304800" y="3083867"/>
            <a:ext cx="33051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ko-KR" altLang="en-US" sz="1200"/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C380D04A-3E86-F337-59FA-13463767DF01}"/>
              </a:ext>
            </a:extLst>
          </p:cNvPr>
          <p:cNvSpPr txBox="1"/>
          <p:nvPr/>
        </p:nvSpPr>
        <p:spPr>
          <a:xfrm>
            <a:off x="564215" y="1502697"/>
            <a:ext cx="35829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b="1"/>
              <a:t>5.</a:t>
            </a:r>
            <a:r>
              <a:rPr lang="ko-KR" altLang="en-US" sz="2800" b="1"/>
              <a:t> 완료 목표 보고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205397E-1965-E53F-CDBA-D2F657885448}"/>
              </a:ext>
            </a:extLst>
          </p:cNvPr>
          <p:cNvSpPr txBox="1"/>
          <p:nvPr/>
        </p:nvSpPr>
        <p:spPr>
          <a:xfrm>
            <a:off x="564215" y="2222826"/>
            <a:ext cx="1074109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팀장급 팀원과 파트 팀원은 파트별 목표를 달성 후 총 책임자에게 작업 결과를 제출한다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총 책임자는 파트의 작업물이 세부 목표 달성에 부합하는지</a:t>
            </a:r>
            <a:r>
              <a:rPr lang="en-US" altLang="ko-KR"/>
              <a:t>, </a:t>
            </a:r>
            <a:r>
              <a:rPr lang="ko-KR" altLang="en-US"/>
              <a:t>보충할 내용이 있는지</a:t>
            </a:r>
            <a:r>
              <a:rPr lang="en-US" altLang="ko-KR"/>
              <a:t>, </a:t>
            </a:r>
            <a:r>
              <a:rPr lang="ko-KR" altLang="en-US"/>
              <a:t>협의할 내용이 있는지 확인한다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모든 파트의 작업물의 문제가 없다면 작업물을 합쳐 세부 목표를 달성한다</a:t>
            </a:r>
            <a:r>
              <a:rPr lang="en-US" altLang="ko-KR"/>
              <a:t>.</a:t>
            </a:r>
          </a:p>
          <a:p>
            <a:r>
              <a:rPr lang="ko-KR" altLang="en-US"/>
              <a:t>세부 목표를 달성하면</a:t>
            </a:r>
            <a:r>
              <a:rPr lang="en-US" altLang="ko-KR"/>
              <a:t>, </a:t>
            </a:r>
            <a:r>
              <a:rPr lang="ko-KR" altLang="en-US"/>
              <a:t>달성된 세부 목표들을 합쳐 핵심 목표를 달성한다</a:t>
            </a:r>
            <a:r>
              <a:rPr lang="en-US" altLang="ko-KR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3814461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98DE38-530B-3DDC-7716-498E40B40138}"/>
              </a:ext>
            </a:extLst>
          </p:cNvPr>
          <p:cNvSpPr txBox="1"/>
          <p:nvPr/>
        </p:nvSpPr>
        <p:spPr>
          <a:xfrm>
            <a:off x="1745672" y="2583876"/>
            <a:ext cx="87006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b="1"/>
              <a:t>팀원 모집</a:t>
            </a:r>
          </a:p>
        </p:txBody>
      </p:sp>
    </p:spTree>
    <p:extLst>
      <p:ext uri="{BB962C8B-B14F-4D97-AF65-F5344CB8AC3E}">
        <p14:creationId xmlns:p14="http://schemas.microsoft.com/office/powerpoint/2010/main" val="95384776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B98DE38-530B-3DDC-7716-498E40B40138}"/>
              </a:ext>
            </a:extLst>
          </p:cNvPr>
          <p:cNvSpPr txBox="1"/>
          <p:nvPr/>
        </p:nvSpPr>
        <p:spPr>
          <a:xfrm>
            <a:off x="1745672" y="136236"/>
            <a:ext cx="87006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6000" b="1"/>
              <a:t>팀원 모집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FC2D74E-CA5E-2B79-3560-384EC534F36C}"/>
              </a:ext>
            </a:extLst>
          </p:cNvPr>
          <p:cNvSpPr txBox="1"/>
          <p:nvPr/>
        </p:nvSpPr>
        <p:spPr>
          <a:xfrm>
            <a:off x="564216" y="1225606"/>
            <a:ext cx="2524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/>
              <a:t>모집처 다각화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E6D35D-8D47-8A82-AD9F-620866230CEB}"/>
              </a:ext>
            </a:extLst>
          </p:cNvPr>
          <p:cNvSpPr txBox="1"/>
          <p:nvPr/>
        </p:nvSpPr>
        <p:spPr>
          <a:xfrm>
            <a:off x="564215" y="1945735"/>
            <a:ext cx="683411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현재 팀원 모집은 인디터에서 진행되고 있음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인디터웹</a:t>
            </a:r>
            <a:r>
              <a:rPr lang="en-US" altLang="ko-KR"/>
              <a:t>, </a:t>
            </a:r>
            <a:r>
              <a:rPr lang="ko-KR" altLang="en-US"/>
              <a:t>인디플 같은 인디 게임 제작 사이트에서 모집 공고를 추가하는 방안</a:t>
            </a:r>
            <a:endParaRPr lang="en-US" altLang="ko-KR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59706E1-8BF7-575A-B609-6F5035B67C12}"/>
              </a:ext>
            </a:extLst>
          </p:cNvPr>
          <p:cNvSpPr txBox="1"/>
          <p:nvPr/>
        </p:nvSpPr>
        <p:spPr>
          <a:xfrm>
            <a:off x="564216" y="3369216"/>
            <a:ext cx="252455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/>
              <a:t>모집 세분화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EC3830-0E5C-63A4-61E4-41A4C90DC33E}"/>
              </a:ext>
            </a:extLst>
          </p:cNvPr>
          <p:cNvSpPr txBox="1"/>
          <p:nvPr/>
        </p:nvSpPr>
        <p:spPr>
          <a:xfrm>
            <a:off x="564215" y="4089345"/>
            <a:ext cx="68341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현재 공고는 모든 팀장급 인원을 한 공고에서 모집하고 있음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팀장 별로 공고를 나눠서 따로 모집하는 방안</a:t>
            </a:r>
            <a:endParaRPr lang="en-US" altLang="ko-KR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169F3DF-36A3-489E-037D-FD2B32EFFF5E}"/>
              </a:ext>
            </a:extLst>
          </p:cNvPr>
          <p:cNvSpPr txBox="1"/>
          <p:nvPr/>
        </p:nvSpPr>
        <p:spPr>
          <a:xfrm>
            <a:off x="564215" y="5262055"/>
            <a:ext cx="28070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b="1"/>
              <a:t>공고 내용 보충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FD104D-C66D-7109-BFB7-7D301428EFEE}"/>
              </a:ext>
            </a:extLst>
          </p:cNvPr>
          <p:cNvSpPr txBox="1"/>
          <p:nvPr/>
        </p:nvSpPr>
        <p:spPr>
          <a:xfrm>
            <a:off x="564215" y="5982184"/>
            <a:ext cx="68341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/>
              <a:t>현재 공고의 부족한 내용을 보충하는 방안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1173719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951</TotalTime>
  <Words>582</Words>
  <Application>Microsoft Office PowerPoint</Application>
  <PresentationFormat>와이드스크린</PresentationFormat>
  <Paragraphs>135</Paragraphs>
  <Slides>17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0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라르푸르덕 라르푸르덕</dc:creator>
  <cp:lastModifiedBy>라르푸르덕 라르푸르덕</cp:lastModifiedBy>
  <cp:revision>5</cp:revision>
  <dcterms:created xsi:type="dcterms:W3CDTF">2025-11-12T07:27:50Z</dcterms:created>
  <dcterms:modified xsi:type="dcterms:W3CDTF">2025-11-13T09:47:34Z</dcterms:modified>
</cp:coreProperties>
</file>